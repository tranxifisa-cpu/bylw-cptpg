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7A00"/>
    <a:srgbClr val="FD7900"/>
    <a:srgbClr val="F26A00"/>
    <a:srgbClr val="FFFFFF"/>
    <a:srgbClr val="CC5C00"/>
    <a:srgbClr val="F06A00"/>
    <a:srgbClr val="0B408B"/>
    <a:srgbClr val="0A8887"/>
    <a:srgbClr val="0B42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>
      <p:cViewPr>
        <p:scale>
          <a:sx n="50" d="100"/>
          <a:sy n="50" d="100"/>
        </p:scale>
        <p:origin x="1056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80B230-2B1B-91EA-5BAE-1BE4F1099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74EAC33-732F-BA2C-2824-921DDF5296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0FA706-8AA1-5601-39C4-E90AA330D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B08E3-A6E5-417A-B5F8-25032AC6E11A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5DB8C9-F4F7-E726-DB7B-BC87FBF90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AAC0BD-3042-67E2-4A19-FCEB6AEC3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AC66-5662-426A-BF92-4C9ED2225B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2014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B0BCF8-D46E-EFB5-F96A-381C4FFA7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7DFE12-9B92-36E9-1A3C-FC13AD0DF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2E003B-B055-6786-E955-1DFE5382C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B08E3-A6E5-417A-B5F8-25032AC6E11A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EC9FF9-5DE8-54B1-A4BE-FDAA184C8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306C2A-9738-8CA0-EB86-61906D20B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AC66-5662-426A-BF92-4C9ED2225B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0561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101C38-957D-2FF6-077D-732A1B743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FA1096-A9CC-5CAF-1A0D-A7F9F6A26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E96844-BBF8-B820-DAEA-8B5BD1567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B08E3-A6E5-417A-B5F8-25032AC6E11A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BF2CB1-89D5-E190-429B-6F990193E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7E9605-0584-83BB-CA97-3938398F2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AC66-5662-426A-BF92-4C9ED2225B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2278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33EBE3-7A22-32C4-4B28-E09D2385F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A2F7CD-E465-E2BE-80C4-95EFE8498A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D41018A-29BE-DC10-093F-D3C8246898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3C2C60A-2B47-0D30-FE09-E4BCE5377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B08E3-A6E5-417A-B5F8-25032AC6E11A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01F569D-4AB1-CDEC-414A-E4502323B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16CF49-CE0D-1AB2-7021-EA7FFE0FC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AC66-5662-426A-BF92-4C9ED2225B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181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FE41B1-2A17-1FBE-334E-D5BFCE76F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F65110-F853-4CAE-28E0-BFF22D78FE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75C7DB-A5FC-AF55-933A-3D5FAC546B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0FF9A64-D4AE-CD26-3794-9189D81B0F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F7E4F42-9BB1-A07E-F35F-75D8E5803F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FF7C30-4464-1E40-8221-A669247B3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B08E3-A6E5-417A-B5F8-25032AC6E11A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BE7E8A9-C276-20FA-29AF-CA590F51D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E9F4921-CBD8-1562-305B-12C1A1AFE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AC66-5662-426A-BF92-4C9ED2225B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3874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EE318C-167B-B2A2-CA02-C4F79D880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8C20446-70F1-DD4F-6F10-6BF17FB67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B08E3-A6E5-417A-B5F8-25032AC6E11A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8620FAB-4708-85C6-F674-C4565A8D2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07A2EC1-05EF-EDA6-823E-E9500AEE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AC66-5662-426A-BF92-4C9ED2225B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4961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17346EF-CD15-00E7-8DD5-F8FE4DAA5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B08E3-A6E5-417A-B5F8-25032AC6E11A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5DBBCBC-FE6F-D67D-17F9-36D656461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608D85-9C52-C346-83B5-E1DE9BA21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AC66-5662-426A-BF92-4C9ED2225B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6957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57A7D7-597B-2590-5C4F-428BB1844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9984A1-0C1A-704D-AC29-6EE18FA5F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6A73856-2403-19C1-10AF-F6CEC76E6C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683A9A9-A4C8-A4C2-A005-090D0FBC3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B08E3-A6E5-417A-B5F8-25032AC6E11A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A635C2-F80B-25EA-5EB2-CDDF395C3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B81134-492F-3952-820E-9D189CCE6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AC66-5662-426A-BF92-4C9ED2225B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4129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E04A95-8EBE-032E-FCA8-40FE0FB77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C0A4126-7943-2474-80D2-2DB40D8F8E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002B252-D289-342D-CC0A-6D8EB1D75B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BD7281C-D83D-487C-ECA4-D685CCD9A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B08E3-A6E5-417A-B5F8-25032AC6E11A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5762DB1-96C9-DD14-04B0-01DAFBE3A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D121B20-BEBE-89E1-6C21-E4C4EEBC1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AC66-5662-426A-BF92-4C9ED2225B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2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9EB8EB-F31C-F2B5-66CE-047DB3516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693D3-206B-567E-0258-04181535EF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9421D3-42CF-D73D-289B-0FAD9DA04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B08E3-A6E5-417A-B5F8-25032AC6E11A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9B63B8-D6E6-8F42-5E9A-07BA29B89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8FE6E7-4858-1A31-8A0D-8EC190175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AC66-5662-426A-BF92-4C9ED2225B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1985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49EFB40-B756-0FB0-9D22-3052584B90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D99DFA3-B263-088D-349D-582D4C1B6E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72F487-DC2D-E409-E445-E04CF90DC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B08E3-A6E5-417A-B5F8-25032AC6E11A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92924E-8DC1-78B4-30B7-E28FD58F3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E29900-0056-BF26-107F-9B5736865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AC66-5662-426A-BF92-4C9ED2225B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7025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11B9A23-F9BD-C882-FE47-BB96F5C47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F6DC09E-8301-AA81-0DFD-872A3BA92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EA9FF2-90F4-8990-01B3-7F7F175683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AB08E3-A6E5-417A-B5F8-25032AC6E11A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18E62B-A784-1B32-53A7-2DC2725760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D15B24-0BB0-91CB-8C5E-5C8277A76E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D7AC66-5662-426A-BF92-4C9ED2225B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6308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B95B0C0B-0B4E-9520-502E-0B15EF7B769F}"/>
              </a:ext>
            </a:extLst>
          </p:cNvPr>
          <p:cNvGrpSpPr/>
          <p:nvPr/>
        </p:nvGrpSpPr>
        <p:grpSpPr>
          <a:xfrm>
            <a:off x="175260" y="461370"/>
            <a:ext cx="11841480" cy="6183270"/>
            <a:chOff x="167640" y="499470"/>
            <a:chExt cx="11841480" cy="6183270"/>
          </a:xfrm>
        </p:grpSpPr>
        <p:grpSp>
          <p:nvGrpSpPr>
            <p:cNvPr id="11" name="图形 6">
              <a:extLst>
                <a:ext uri="{FF2B5EF4-FFF2-40B4-BE49-F238E27FC236}">
                  <a16:creationId xmlns:a16="http://schemas.microsoft.com/office/drawing/2014/main" id="{82BE0206-5FD9-5D24-716E-F89005C88149}"/>
                </a:ext>
              </a:extLst>
            </p:cNvPr>
            <p:cNvGrpSpPr/>
            <p:nvPr/>
          </p:nvGrpSpPr>
          <p:grpSpPr>
            <a:xfrm>
              <a:off x="167640" y="512713"/>
              <a:ext cx="4427220" cy="1384667"/>
              <a:chOff x="167640" y="512713"/>
              <a:chExt cx="4427220" cy="1384667"/>
            </a:xfrm>
          </p:grpSpPr>
          <p:sp>
            <p:nvSpPr>
              <p:cNvPr id="12" name="矩形: 圆角 11">
                <a:extLst>
                  <a:ext uri="{FF2B5EF4-FFF2-40B4-BE49-F238E27FC236}">
                    <a16:creationId xmlns:a16="http://schemas.microsoft.com/office/drawing/2014/main" id="{038D1F09-686B-357C-0846-C4E979A208DC}"/>
                  </a:ext>
                </a:extLst>
              </p:cNvPr>
              <p:cNvSpPr/>
              <p:nvPr/>
            </p:nvSpPr>
            <p:spPr>
              <a:xfrm>
                <a:off x="167640" y="518160"/>
                <a:ext cx="4427220" cy="1379220"/>
              </a:xfrm>
              <a:prstGeom prst="roundRect">
                <a:avLst>
                  <a:gd name="adj" fmla="val 2762"/>
                </a:avLst>
              </a:prstGeom>
              <a:gradFill>
                <a:gsLst>
                  <a:gs pos="0">
                    <a:srgbClr val="FFFFFF"/>
                  </a:gs>
                  <a:gs pos="50000">
                    <a:srgbClr val="FBFDFF"/>
                  </a:gs>
                  <a:gs pos="100000">
                    <a:srgbClr val="F8FBFF"/>
                  </a:gs>
                </a:gsLst>
                <a:lin ang="5400000" scaled="1"/>
              </a:gradFill>
              <a:ln w="17526" cap="flat">
                <a:solidFill>
                  <a:srgbClr val="0A3F8D"/>
                </a:solidFill>
                <a:prstDash val="solid"/>
                <a:miter/>
              </a:ln>
            </p:spPr>
          </p:sp>
          <p:sp>
            <p:nvSpPr>
              <p:cNvPr id="13" name="矩形: 圆角 12">
                <a:extLst>
                  <a:ext uri="{FF2B5EF4-FFF2-40B4-BE49-F238E27FC236}">
                    <a16:creationId xmlns:a16="http://schemas.microsoft.com/office/drawing/2014/main" id="{472094BE-1C39-A3D4-9F6E-43A62C53E962}"/>
                  </a:ext>
                </a:extLst>
              </p:cNvPr>
              <p:cNvSpPr/>
              <p:nvPr/>
            </p:nvSpPr>
            <p:spPr>
              <a:xfrm>
                <a:off x="167640" y="518160"/>
                <a:ext cx="4427220" cy="312420"/>
              </a:xfrm>
              <a:prstGeom prst="roundRect">
                <a:avLst>
                  <a:gd name="adj" fmla="val 12195"/>
                </a:avLst>
              </a:prstGeom>
              <a:gradFill>
                <a:gsLst>
                  <a:gs pos="0">
                    <a:srgbClr val="0B3F8A"/>
                  </a:gs>
                  <a:gs pos="50000">
                    <a:srgbClr val="094D99"/>
                  </a:gs>
                  <a:gs pos="100000">
                    <a:srgbClr val="075BA8"/>
                  </a:gs>
                </a:gsLst>
                <a:lin ang="0" scaled="1"/>
              </a:gradFill>
              <a:ln w="7620" cap="flat">
                <a:noFill/>
                <a:prstDash val="solid"/>
                <a:miter/>
              </a:ln>
            </p:spPr>
          </p:sp>
          <p:sp>
            <p:nvSpPr>
              <p:cNvPr id="14" name="任意多边形: 形状 13">
                <a:extLst>
                  <a:ext uri="{FF2B5EF4-FFF2-40B4-BE49-F238E27FC236}">
                    <a16:creationId xmlns:a16="http://schemas.microsoft.com/office/drawing/2014/main" id="{3504573C-097F-30AD-534F-B1D88D876313}"/>
                  </a:ext>
                </a:extLst>
              </p:cNvPr>
              <p:cNvSpPr/>
              <p:nvPr/>
            </p:nvSpPr>
            <p:spPr>
              <a:xfrm>
                <a:off x="167640" y="746760"/>
                <a:ext cx="4427220" cy="83820"/>
              </a:xfrm>
              <a:custGeom>
                <a:avLst/>
                <a:gdLst>
                  <a:gd name="csX0" fmla="*/ 0 w 4427220"/>
                  <a:gd name="csY0" fmla="*/ 0 h 83820"/>
                  <a:gd name="csX1" fmla="*/ 4427220 w 4427220"/>
                  <a:gd name="csY1" fmla="*/ 0 h 83820"/>
                  <a:gd name="csX2" fmla="*/ 4427220 w 4427220"/>
                  <a:gd name="csY2" fmla="*/ 83820 h 83820"/>
                  <a:gd name="csX3" fmla="*/ 0 w 4427220"/>
                  <a:gd name="csY3" fmla="*/ 83820 h 83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427220" h="83820">
                    <a:moveTo>
                      <a:pt x="0" y="0"/>
                    </a:moveTo>
                    <a:lnTo>
                      <a:pt x="4427220" y="0"/>
                    </a:lnTo>
                    <a:lnTo>
                      <a:pt x="4427220" y="83820"/>
                    </a:lnTo>
                    <a:lnTo>
                      <a:pt x="0" y="83820"/>
                    </a:lnTo>
                    <a:close/>
                  </a:path>
                </a:pathLst>
              </a:custGeom>
              <a:gradFill>
                <a:gsLst>
                  <a:gs pos="0">
                    <a:srgbClr val="0B3F8A"/>
                  </a:gs>
                  <a:gs pos="50000">
                    <a:srgbClr val="094D99"/>
                  </a:gs>
                  <a:gs pos="100000">
                    <a:srgbClr val="075BA8"/>
                  </a:gs>
                </a:gsLst>
                <a:lin ang="0" scaled="1"/>
              </a:gradFill>
              <a:ln w="7620" cap="flat">
                <a:noFill/>
                <a:prstDash val="solid"/>
                <a:miter/>
              </a:ln>
            </p:spPr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18DDA8E4-EA8C-C494-B744-6C273D1E6EC5}"/>
                  </a:ext>
                </a:extLst>
              </p:cNvPr>
              <p:cNvSpPr txBox="1"/>
              <p:nvPr/>
            </p:nvSpPr>
            <p:spPr>
              <a:xfrm>
                <a:off x="1156951" y="512713"/>
                <a:ext cx="227818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600" b="1" spc="0" baseline="0" dirty="0">
                    <a:ln/>
                    <a:solidFill>
                      <a:srgbClr val="FFFFFF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1. 研究背景与问题提出</a:t>
                </a:r>
              </a:p>
            </p:txBody>
          </p:sp>
        </p:grpSp>
        <p:grpSp>
          <p:nvGrpSpPr>
            <p:cNvPr id="20" name="图形 6">
              <a:extLst>
                <a:ext uri="{FF2B5EF4-FFF2-40B4-BE49-F238E27FC236}">
                  <a16:creationId xmlns:a16="http://schemas.microsoft.com/office/drawing/2014/main" id="{71BF8278-B56D-893C-A22C-80DA35968773}"/>
                </a:ext>
              </a:extLst>
            </p:cNvPr>
            <p:cNvGrpSpPr/>
            <p:nvPr/>
          </p:nvGrpSpPr>
          <p:grpSpPr>
            <a:xfrm>
              <a:off x="5471160" y="499470"/>
              <a:ext cx="6537960" cy="1375050"/>
              <a:chOff x="5471160" y="499470"/>
              <a:chExt cx="6537960" cy="1375050"/>
            </a:xfrm>
          </p:grpSpPr>
          <p:sp>
            <p:nvSpPr>
              <p:cNvPr id="21" name="矩形: 圆角 20">
                <a:extLst>
                  <a:ext uri="{FF2B5EF4-FFF2-40B4-BE49-F238E27FC236}">
                    <a16:creationId xmlns:a16="http://schemas.microsoft.com/office/drawing/2014/main" id="{6BD84061-4005-6A5C-2217-62002E8ECCF9}"/>
                  </a:ext>
                </a:extLst>
              </p:cNvPr>
              <p:cNvSpPr/>
              <p:nvPr/>
            </p:nvSpPr>
            <p:spPr>
              <a:xfrm>
                <a:off x="5471160" y="518160"/>
                <a:ext cx="6537960" cy="1356360"/>
              </a:xfrm>
              <a:prstGeom prst="roundRect">
                <a:avLst>
                  <a:gd name="adj" fmla="val 2808"/>
                </a:avLst>
              </a:prstGeom>
              <a:gradFill>
                <a:gsLst>
                  <a:gs pos="0">
                    <a:srgbClr val="FFFFFF"/>
                  </a:gs>
                  <a:gs pos="50000">
                    <a:srgbClr val="FBFDFF"/>
                  </a:gs>
                  <a:gs pos="100000">
                    <a:srgbClr val="F8FBFF"/>
                  </a:gs>
                </a:gsLst>
                <a:lin ang="5400000" scaled="1"/>
              </a:gradFill>
              <a:ln w="17526" cap="flat">
                <a:solidFill>
                  <a:srgbClr val="0A3F8D"/>
                </a:solidFill>
                <a:prstDash val="solid"/>
                <a:miter/>
              </a:ln>
            </p:spPr>
          </p:sp>
          <p:sp>
            <p:nvSpPr>
              <p:cNvPr id="22" name="矩形: 圆角 21">
                <a:extLst>
                  <a:ext uri="{FF2B5EF4-FFF2-40B4-BE49-F238E27FC236}">
                    <a16:creationId xmlns:a16="http://schemas.microsoft.com/office/drawing/2014/main" id="{7CB9F4A0-9C0A-EEC5-2F5A-559FE70A4245}"/>
                  </a:ext>
                </a:extLst>
              </p:cNvPr>
              <p:cNvSpPr/>
              <p:nvPr/>
            </p:nvSpPr>
            <p:spPr>
              <a:xfrm>
                <a:off x="5471160" y="518160"/>
                <a:ext cx="6537960" cy="312420"/>
              </a:xfrm>
              <a:prstGeom prst="roundRect">
                <a:avLst>
                  <a:gd name="adj" fmla="val 12195"/>
                </a:avLst>
              </a:prstGeom>
              <a:gradFill>
                <a:gsLst>
                  <a:gs pos="0">
                    <a:srgbClr val="0B3F8A"/>
                  </a:gs>
                  <a:gs pos="50000">
                    <a:srgbClr val="094D99"/>
                  </a:gs>
                  <a:gs pos="100000">
                    <a:srgbClr val="075BA8"/>
                  </a:gs>
                </a:gsLst>
                <a:lin ang="0" scaled="1"/>
              </a:gradFill>
              <a:ln w="7620" cap="flat">
                <a:noFill/>
                <a:prstDash val="solid"/>
                <a:miter/>
              </a:ln>
            </p:spPr>
          </p:sp>
          <p:sp>
            <p:nvSpPr>
              <p:cNvPr id="23" name="任意多边形: 形状 22">
                <a:extLst>
                  <a:ext uri="{FF2B5EF4-FFF2-40B4-BE49-F238E27FC236}">
                    <a16:creationId xmlns:a16="http://schemas.microsoft.com/office/drawing/2014/main" id="{F03641C8-5969-6921-0CB9-63A8F549B3E7}"/>
                  </a:ext>
                </a:extLst>
              </p:cNvPr>
              <p:cNvSpPr/>
              <p:nvPr/>
            </p:nvSpPr>
            <p:spPr>
              <a:xfrm>
                <a:off x="5471160" y="746760"/>
                <a:ext cx="6537960" cy="83820"/>
              </a:xfrm>
              <a:custGeom>
                <a:avLst/>
                <a:gdLst>
                  <a:gd name="csX0" fmla="*/ 0 w 6537960"/>
                  <a:gd name="csY0" fmla="*/ 0 h 83820"/>
                  <a:gd name="csX1" fmla="*/ 6537960 w 6537960"/>
                  <a:gd name="csY1" fmla="*/ 0 h 83820"/>
                  <a:gd name="csX2" fmla="*/ 6537960 w 6537960"/>
                  <a:gd name="csY2" fmla="*/ 83820 h 83820"/>
                  <a:gd name="csX3" fmla="*/ 0 w 6537960"/>
                  <a:gd name="csY3" fmla="*/ 83820 h 83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537960" h="83820">
                    <a:moveTo>
                      <a:pt x="0" y="0"/>
                    </a:moveTo>
                    <a:lnTo>
                      <a:pt x="6537960" y="0"/>
                    </a:lnTo>
                    <a:lnTo>
                      <a:pt x="6537960" y="83820"/>
                    </a:lnTo>
                    <a:lnTo>
                      <a:pt x="0" y="83820"/>
                    </a:lnTo>
                    <a:close/>
                  </a:path>
                </a:pathLst>
              </a:custGeom>
              <a:gradFill>
                <a:gsLst>
                  <a:gs pos="0">
                    <a:srgbClr val="0B3F8A"/>
                  </a:gs>
                  <a:gs pos="50000">
                    <a:srgbClr val="094D99"/>
                  </a:gs>
                  <a:gs pos="100000">
                    <a:srgbClr val="075BA8"/>
                  </a:gs>
                </a:gsLst>
                <a:lin ang="0" scaled="1"/>
              </a:gradFill>
              <a:ln w="7620" cap="flat">
                <a:noFill/>
                <a:prstDash val="solid"/>
                <a:miter/>
              </a:ln>
            </p:spPr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852F0427-4749-10BD-71B1-FFD55D0F0E81}"/>
                  </a:ext>
                </a:extLst>
              </p:cNvPr>
              <p:cNvSpPr txBox="1"/>
              <p:nvPr/>
            </p:nvSpPr>
            <p:spPr>
              <a:xfrm>
                <a:off x="8153381" y="499470"/>
                <a:ext cx="125226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600" b="1" spc="0" baseline="0" dirty="0">
                    <a:ln/>
                    <a:solidFill>
                      <a:srgbClr val="FFFFFF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2. 研究问题</a:t>
                </a:r>
              </a:p>
            </p:txBody>
          </p:sp>
          <p:sp>
            <p:nvSpPr>
              <p:cNvPr id="25" name="矩形: 圆角 24">
                <a:extLst>
                  <a:ext uri="{FF2B5EF4-FFF2-40B4-BE49-F238E27FC236}">
                    <a16:creationId xmlns:a16="http://schemas.microsoft.com/office/drawing/2014/main" id="{0DF01754-6BBD-2B8D-4EE1-1FB1277D2DB3}"/>
                  </a:ext>
                </a:extLst>
              </p:cNvPr>
              <p:cNvSpPr/>
              <p:nvPr/>
            </p:nvSpPr>
            <p:spPr>
              <a:xfrm>
                <a:off x="5661660" y="944880"/>
                <a:ext cx="1882140" cy="830580"/>
              </a:xfrm>
              <a:prstGeom prst="roundRect">
                <a:avLst>
                  <a:gd name="adj" fmla="val 4587"/>
                </a:avLst>
              </a:prstGeom>
              <a:solidFill>
                <a:srgbClr val="FFFFFF"/>
              </a:solidFill>
              <a:ln w="13716" cap="flat">
                <a:solidFill>
                  <a:srgbClr val="0C61B5"/>
                </a:solidFill>
                <a:prstDash val="solid"/>
                <a:miter/>
              </a:ln>
            </p:spPr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B503A359-D87B-CD5B-FEA2-08A38259596F}"/>
                  </a:ext>
                </a:extLst>
              </p:cNvPr>
              <p:cNvSpPr txBox="1"/>
              <p:nvPr/>
            </p:nvSpPr>
            <p:spPr>
              <a:xfrm>
                <a:off x="5669280" y="981491"/>
                <a:ext cx="160492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400" b="1" spc="0" baseline="0" dirty="0">
                    <a:ln/>
                    <a:solidFill>
                      <a:srgbClr val="09285E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（1）追踪稳定性 </a:t>
                </a:r>
              </a:p>
            </p:txBody>
          </p:sp>
          <p:sp>
            <p:nvSpPr>
              <p:cNvPr id="29" name="矩形: 圆角 28">
                <a:extLst>
                  <a:ext uri="{FF2B5EF4-FFF2-40B4-BE49-F238E27FC236}">
                    <a16:creationId xmlns:a16="http://schemas.microsoft.com/office/drawing/2014/main" id="{EAB0FD75-F6ED-3B12-5B60-8C4E2F5D5125}"/>
                  </a:ext>
                </a:extLst>
              </p:cNvPr>
              <p:cNvSpPr/>
              <p:nvPr/>
            </p:nvSpPr>
            <p:spPr>
              <a:xfrm>
                <a:off x="7741920" y="944880"/>
                <a:ext cx="1935480" cy="830580"/>
              </a:xfrm>
              <a:prstGeom prst="roundRect">
                <a:avLst>
                  <a:gd name="adj" fmla="val 4587"/>
                </a:avLst>
              </a:prstGeom>
              <a:solidFill>
                <a:srgbClr val="FFFFFF"/>
              </a:solidFill>
              <a:ln w="13716" cap="flat">
                <a:solidFill>
                  <a:srgbClr val="0C61B5"/>
                </a:solidFill>
                <a:prstDash val="solid"/>
                <a:miter/>
              </a:ln>
            </p:spPr>
          </p: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01977BD7-03F2-521A-BC67-4B865BAC592C}"/>
                  </a:ext>
                </a:extLst>
              </p:cNvPr>
              <p:cNvSpPr txBox="1"/>
              <p:nvPr/>
            </p:nvSpPr>
            <p:spPr>
              <a:xfrm>
                <a:off x="7815756" y="981491"/>
                <a:ext cx="160492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400" b="1" spc="0" baseline="0" dirty="0">
                    <a:ln/>
                    <a:solidFill>
                      <a:srgbClr val="09285E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（2）行为有效性 </a:t>
                </a:r>
              </a:p>
            </p:txBody>
          </p:sp>
          <p:sp>
            <p:nvSpPr>
              <p:cNvPr id="33" name="矩形: 圆角 32">
                <a:extLst>
                  <a:ext uri="{FF2B5EF4-FFF2-40B4-BE49-F238E27FC236}">
                    <a16:creationId xmlns:a16="http://schemas.microsoft.com/office/drawing/2014/main" id="{BCA267D9-1A9B-864D-1D2C-C7D76EDCA7E1}"/>
                  </a:ext>
                </a:extLst>
              </p:cNvPr>
              <p:cNvSpPr/>
              <p:nvPr/>
            </p:nvSpPr>
            <p:spPr>
              <a:xfrm>
                <a:off x="9913620" y="944880"/>
                <a:ext cx="1905000" cy="830580"/>
              </a:xfrm>
              <a:prstGeom prst="roundRect">
                <a:avLst>
                  <a:gd name="adj" fmla="val 4587"/>
                </a:avLst>
              </a:prstGeom>
              <a:solidFill>
                <a:srgbClr val="FFFFFF"/>
              </a:solidFill>
              <a:ln w="13716" cap="flat">
                <a:solidFill>
                  <a:srgbClr val="0C61B5"/>
                </a:solidFill>
                <a:prstDash val="solid"/>
                <a:miter/>
              </a:ln>
            </p:spPr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B5D74F90-9489-F8EB-0C83-A0887000C6BB}"/>
                  </a:ext>
                </a:extLst>
              </p:cNvPr>
              <p:cNvSpPr txBox="1"/>
              <p:nvPr/>
            </p:nvSpPr>
            <p:spPr>
              <a:xfrm>
                <a:off x="9936641" y="981491"/>
                <a:ext cx="178446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400" b="1" spc="0" baseline="0" dirty="0">
                    <a:ln/>
                    <a:solidFill>
                      <a:srgbClr val="09285E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（3）人类心理对齐 </a:t>
                </a:r>
              </a:p>
            </p:txBody>
          </p:sp>
        </p:grpSp>
        <p:grpSp>
          <p:nvGrpSpPr>
            <p:cNvPr id="37" name="图形 6">
              <a:extLst>
                <a:ext uri="{FF2B5EF4-FFF2-40B4-BE49-F238E27FC236}">
                  <a16:creationId xmlns:a16="http://schemas.microsoft.com/office/drawing/2014/main" id="{5E313564-CF38-97F4-AC11-DE1F09C27A74}"/>
                </a:ext>
              </a:extLst>
            </p:cNvPr>
            <p:cNvGrpSpPr/>
            <p:nvPr/>
          </p:nvGrpSpPr>
          <p:grpSpPr>
            <a:xfrm>
              <a:off x="167640" y="2090780"/>
              <a:ext cx="5143500" cy="1330600"/>
              <a:chOff x="167640" y="2090780"/>
              <a:chExt cx="5143500" cy="1330600"/>
            </a:xfrm>
          </p:grpSpPr>
          <p:sp>
            <p:nvSpPr>
              <p:cNvPr id="38" name="矩形: 圆角 37">
                <a:extLst>
                  <a:ext uri="{FF2B5EF4-FFF2-40B4-BE49-F238E27FC236}">
                    <a16:creationId xmlns:a16="http://schemas.microsoft.com/office/drawing/2014/main" id="{D9377462-319E-0226-34A3-B2E15BA789E5}"/>
                  </a:ext>
                </a:extLst>
              </p:cNvPr>
              <p:cNvSpPr/>
              <p:nvPr/>
            </p:nvSpPr>
            <p:spPr>
              <a:xfrm>
                <a:off x="167640" y="2095500"/>
                <a:ext cx="5143500" cy="1325880"/>
              </a:xfrm>
              <a:prstGeom prst="roundRect">
                <a:avLst>
                  <a:gd name="adj" fmla="val 2873"/>
                </a:avLst>
              </a:prstGeom>
              <a:gradFill>
                <a:gsLst>
                  <a:gs pos="0">
                    <a:srgbClr val="FFFFFF"/>
                  </a:gs>
                  <a:gs pos="50000">
                    <a:srgbClr val="F8FFFF"/>
                  </a:gs>
                  <a:gs pos="100000">
                    <a:srgbClr val="F2FFFF"/>
                  </a:gs>
                </a:gsLst>
                <a:lin ang="5400000" scaled="1"/>
              </a:gradFill>
              <a:ln w="17526" cap="flat">
                <a:solidFill>
                  <a:srgbClr val="0A8786"/>
                </a:solidFill>
                <a:prstDash val="solid"/>
                <a:miter/>
              </a:ln>
            </p:spPr>
          </p:sp>
          <p:sp>
            <p:nvSpPr>
              <p:cNvPr id="39" name="矩形: 圆角 38">
                <a:extLst>
                  <a:ext uri="{FF2B5EF4-FFF2-40B4-BE49-F238E27FC236}">
                    <a16:creationId xmlns:a16="http://schemas.microsoft.com/office/drawing/2014/main" id="{F183FCFF-DC9F-2001-D81E-E17726C63742}"/>
                  </a:ext>
                </a:extLst>
              </p:cNvPr>
              <p:cNvSpPr/>
              <p:nvPr/>
            </p:nvSpPr>
            <p:spPr>
              <a:xfrm>
                <a:off x="167640" y="2095500"/>
                <a:ext cx="5143500" cy="304800"/>
              </a:xfrm>
              <a:prstGeom prst="roundRect">
                <a:avLst>
                  <a:gd name="adj" fmla="val 12500"/>
                </a:avLst>
              </a:prstGeom>
              <a:gradFill>
                <a:gsLst>
                  <a:gs pos="0">
                    <a:srgbClr val="0A8E8D"/>
                  </a:gs>
                  <a:gs pos="50000">
                    <a:srgbClr val="0B8280"/>
                  </a:gs>
                  <a:gs pos="100000">
                    <a:srgbClr val="0C7774"/>
                  </a:gs>
                </a:gsLst>
                <a:lin ang="0" scaled="1"/>
              </a:gradFill>
              <a:ln w="7620" cap="flat">
                <a:noFill/>
                <a:prstDash val="solid"/>
                <a:miter/>
              </a:ln>
            </p:spPr>
          </p:sp>
          <p:sp>
            <p:nvSpPr>
              <p:cNvPr id="40" name="任意多边形: 形状 39">
                <a:extLst>
                  <a:ext uri="{FF2B5EF4-FFF2-40B4-BE49-F238E27FC236}">
                    <a16:creationId xmlns:a16="http://schemas.microsoft.com/office/drawing/2014/main" id="{23B1501D-A12B-18BB-58E9-4B6CB4DE4E14}"/>
                  </a:ext>
                </a:extLst>
              </p:cNvPr>
              <p:cNvSpPr/>
              <p:nvPr/>
            </p:nvSpPr>
            <p:spPr>
              <a:xfrm>
                <a:off x="167640" y="2316480"/>
                <a:ext cx="5143500" cy="83820"/>
              </a:xfrm>
              <a:custGeom>
                <a:avLst/>
                <a:gdLst>
                  <a:gd name="csX0" fmla="*/ 0 w 5143500"/>
                  <a:gd name="csY0" fmla="*/ 0 h 83820"/>
                  <a:gd name="csX1" fmla="*/ 5143500 w 5143500"/>
                  <a:gd name="csY1" fmla="*/ 0 h 83820"/>
                  <a:gd name="csX2" fmla="*/ 5143500 w 5143500"/>
                  <a:gd name="csY2" fmla="*/ 83820 h 83820"/>
                  <a:gd name="csX3" fmla="*/ 0 w 5143500"/>
                  <a:gd name="csY3" fmla="*/ 83820 h 83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143500" h="83820">
                    <a:moveTo>
                      <a:pt x="0" y="0"/>
                    </a:moveTo>
                    <a:lnTo>
                      <a:pt x="5143500" y="0"/>
                    </a:lnTo>
                    <a:lnTo>
                      <a:pt x="5143500" y="83820"/>
                    </a:lnTo>
                    <a:lnTo>
                      <a:pt x="0" y="83820"/>
                    </a:lnTo>
                    <a:close/>
                  </a:path>
                </a:pathLst>
              </a:custGeom>
              <a:gradFill>
                <a:gsLst>
                  <a:gs pos="0">
                    <a:srgbClr val="0A8E8D"/>
                  </a:gs>
                  <a:gs pos="50000">
                    <a:srgbClr val="0B8280"/>
                  </a:gs>
                  <a:gs pos="100000">
                    <a:srgbClr val="0C7774"/>
                  </a:gs>
                </a:gsLst>
                <a:lin ang="0" scaled="1"/>
              </a:gradFill>
              <a:ln w="7620" cap="flat">
                <a:noFill/>
                <a:prstDash val="solid"/>
                <a:miter/>
              </a:ln>
            </p:spPr>
          </p:sp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434C1610-4810-FBC7-DD32-0CBBF3BD0179}"/>
                  </a:ext>
                </a:extLst>
              </p:cNvPr>
              <p:cNvSpPr txBox="1"/>
              <p:nvPr/>
            </p:nvSpPr>
            <p:spPr>
              <a:xfrm>
                <a:off x="1550766" y="2090780"/>
                <a:ext cx="227818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600" b="1" spc="0" baseline="0" dirty="0">
                    <a:ln/>
                    <a:solidFill>
                      <a:srgbClr val="FFFFFF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3. 理论基础与问题建模</a:t>
                </a:r>
              </a:p>
            </p:txBody>
          </p:sp>
          <p:sp>
            <p:nvSpPr>
              <p:cNvPr id="42" name="矩形: 圆角 41">
                <a:extLst>
                  <a:ext uri="{FF2B5EF4-FFF2-40B4-BE49-F238E27FC236}">
                    <a16:creationId xmlns:a16="http://schemas.microsoft.com/office/drawing/2014/main" id="{683D8E77-1FD4-07FC-09CB-3A6F93C1A6E0}"/>
                  </a:ext>
                </a:extLst>
              </p:cNvPr>
              <p:cNvSpPr/>
              <p:nvPr/>
            </p:nvSpPr>
            <p:spPr>
              <a:xfrm>
                <a:off x="304800" y="2522220"/>
                <a:ext cx="990600" cy="449580"/>
              </a:xfrm>
              <a:prstGeom prst="roundRect">
                <a:avLst>
                  <a:gd name="adj" fmla="val 6779"/>
                </a:avLst>
              </a:prstGeom>
              <a:solidFill>
                <a:srgbClr val="FFFFFF"/>
              </a:solidFill>
              <a:ln w="12954" cap="flat">
                <a:solidFill>
                  <a:srgbClr val="0A8786"/>
                </a:solidFill>
                <a:prstDash val="solid"/>
                <a:miter/>
              </a:ln>
            </p:spPr>
          </p:sp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601C75A0-9620-EC80-2366-F1431F8FF8F5}"/>
                  </a:ext>
                </a:extLst>
              </p:cNvPr>
              <p:cNvSpPr txBox="1"/>
              <p:nvPr/>
            </p:nvSpPr>
            <p:spPr>
              <a:xfrm>
                <a:off x="300945" y="2589564"/>
                <a:ext cx="102784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b="1" spc="0" baseline="0" dirty="0">
                    <a:ln/>
                    <a:solidFill>
                      <a:srgbClr val="111111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非平稳MDP</a:t>
                </a:r>
              </a:p>
            </p:txBody>
          </p:sp>
          <p:sp>
            <p:nvSpPr>
              <p:cNvPr id="44" name="矩形: 圆角 43">
                <a:extLst>
                  <a:ext uri="{FF2B5EF4-FFF2-40B4-BE49-F238E27FC236}">
                    <a16:creationId xmlns:a16="http://schemas.microsoft.com/office/drawing/2014/main" id="{070856BA-C4D9-B066-4918-325617D2AC13}"/>
                  </a:ext>
                </a:extLst>
              </p:cNvPr>
              <p:cNvSpPr/>
              <p:nvPr/>
            </p:nvSpPr>
            <p:spPr>
              <a:xfrm>
                <a:off x="1516380" y="2533650"/>
                <a:ext cx="1089660" cy="449580"/>
              </a:xfrm>
              <a:prstGeom prst="roundRect">
                <a:avLst>
                  <a:gd name="adj" fmla="val 6779"/>
                </a:avLst>
              </a:prstGeom>
              <a:solidFill>
                <a:srgbClr val="FFFFFF"/>
              </a:solidFill>
              <a:ln w="12954" cap="flat">
                <a:solidFill>
                  <a:srgbClr val="0A8786"/>
                </a:solidFill>
                <a:prstDash val="solid"/>
                <a:miter/>
              </a:ln>
            </p:spPr>
          </p:sp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435E72C9-33BE-AAD6-5A3B-E8AD22BA9C00}"/>
                  </a:ext>
                </a:extLst>
              </p:cNvPr>
              <p:cNvSpPr txBox="1"/>
              <p:nvPr/>
            </p:nvSpPr>
            <p:spPr>
              <a:xfrm>
                <a:off x="1469056" y="2535227"/>
                <a:ext cx="118651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200" b="1" spc="0" baseline="0" dirty="0">
                    <a:ln/>
                    <a:solidFill>
                      <a:srgbClr val="111111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累积前景理论</a:t>
                </a:r>
                <a:r>
                  <a:rPr lang="en-US" altLang="zh-CN" sz="1200" b="1" spc="0" baseline="0" dirty="0">
                    <a:ln/>
                    <a:solidFill>
                      <a:srgbClr val="111111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CPT</a:t>
                </a:r>
                <a:r>
                  <a:rPr lang="zh-CN" altLang="en-US" sz="1200" b="1" spc="0" baseline="0" dirty="0">
                    <a:ln/>
                    <a:solidFill>
                      <a:srgbClr val="111111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 </a:t>
                </a:r>
              </a:p>
            </p:txBody>
          </p:sp>
          <p:sp>
            <p:nvSpPr>
              <p:cNvPr id="47" name="矩形: 圆角 46">
                <a:extLst>
                  <a:ext uri="{FF2B5EF4-FFF2-40B4-BE49-F238E27FC236}">
                    <a16:creationId xmlns:a16="http://schemas.microsoft.com/office/drawing/2014/main" id="{D5472581-3096-82FF-08C1-1B53BDE3FD03}"/>
                  </a:ext>
                </a:extLst>
              </p:cNvPr>
              <p:cNvSpPr/>
              <p:nvPr/>
            </p:nvSpPr>
            <p:spPr>
              <a:xfrm>
                <a:off x="2788920" y="2522220"/>
                <a:ext cx="1112520" cy="449580"/>
              </a:xfrm>
              <a:prstGeom prst="roundRect">
                <a:avLst>
                  <a:gd name="adj" fmla="val 6779"/>
                </a:avLst>
              </a:prstGeom>
              <a:solidFill>
                <a:srgbClr val="FFFFFF"/>
              </a:solidFill>
              <a:ln w="12954" cap="flat">
                <a:solidFill>
                  <a:srgbClr val="0A8786"/>
                </a:solidFill>
                <a:prstDash val="solid"/>
                <a:miter/>
              </a:ln>
            </p:spPr>
          </p:sp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289F5974-D9D5-B1F8-9700-EE51323CCF04}"/>
                  </a:ext>
                </a:extLst>
              </p:cNvPr>
              <p:cNvSpPr txBox="1"/>
              <p:nvPr/>
            </p:nvSpPr>
            <p:spPr>
              <a:xfrm>
                <a:off x="2796540" y="2535227"/>
                <a:ext cx="107061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200" b="1" spc="0" baseline="0" dirty="0">
                    <a:ln/>
                    <a:solidFill>
                      <a:srgbClr val="111111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动态参考点更新</a:t>
                </a:r>
              </a:p>
            </p:txBody>
          </p:sp>
          <p:sp>
            <p:nvSpPr>
              <p:cNvPr id="49" name="矩形: 圆角 48">
                <a:extLst>
                  <a:ext uri="{FF2B5EF4-FFF2-40B4-BE49-F238E27FC236}">
                    <a16:creationId xmlns:a16="http://schemas.microsoft.com/office/drawing/2014/main" id="{CB63B001-B0A2-3995-4A83-84FB506FBF00}"/>
                  </a:ext>
                </a:extLst>
              </p:cNvPr>
              <p:cNvSpPr/>
              <p:nvPr/>
            </p:nvSpPr>
            <p:spPr>
              <a:xfrm>
                <a:off x="4091940" y="2522220"/>
                <a:ext cx="1120140" cy="449580"/>
              </a:xfrm>
              <a:prstGeom prst="roundRect">
                <a:avLst>
                  <a:gd name="adj" fmla="val 6779"/>
                </a:avLst>
              </a:prstGeom>
              <a:solidFill>
                <a:srgbClr val="FFFFFF"/>
              </a:solidFill>
              <a:ln w="12954" cap="flat">
                <a:solidFill>
                  <a:srgbClr val="0A8786"/>
                </a:solidFill>
                <a:prstDash val="solid"/>
                <a:miter/>
              </a:ln>
            </p:spPr>
          </p:sp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CEB614C4-B158-6C30-7F24-844CB1D07099}"/>
                  </a:ext>
                </a:extLst>
              </p:cNvPr>
              <p:cNvSpPr txBox="1"/>
              <p:nvPr/>
            </p:nvSpPr>
            <p:spPr>
              <a:xfrm>
                <a:off x="4264660" y="2527607"/>
                <a:ext cx="8763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z="1200" b="1" spc="0" baseline="0" dirty="0">
                    <a:ln/>
                    <a:solidFill>
                      <a:srgbClr val="111111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投资组合决策场景</a:t>
                </a:r>
              </a:p>
            </p:txBody>
          </p:sp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AED59025-A5CB-01B4-C9DC-4F45163B6235}"/>
                  </a:ext>
                </a:extLst>
              </p:cNvPr>
              <p:cNvSpPr txBox="1"/>
              <p:nvPr/>
            </p:nvSpPr>
            <p:spPr>
              <a:xfrm>
                <a:off x="226222" y="3046512"/>
                <a:ext cx="502413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400" b="1" spc="0" baseline="0" dirty="0">
                    <a:ln/>
                    <a:solidFill>
                      <a:srgbClr val="09285E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建立时变CPT目标函数，并以动态局部遗憾刻画在线优化性能</a:t>
                </a:r>
              </a:p>
            </p:txBody>
          </p:sp>
        </p:grpSp>
        <p:grpSp>
          <p:nvGrpSpPr>
            <p:cNvPr id="55" name="图形 6">
              <a:extLst>
                <a:ext uri="{FF2B5EF4-FFF2-40B4-BE49-F238E27FC236}">
                  <a16:creationId xmlns:a16="http://schemas.microsoft.com/office/drawing/2014/main" id="{5CDCAF1D-B650-1B6B-B03E-519D1EBE8784}"/>
                </a:ext>
              </a:extLst>
            </p:cNvPr>
            <p:cNvGrpSpPr/>
            <p:nvPr/>
          </p:nvGrpSpPr>
          <p:grpSpPr>
            <a:xfrm>
              <a:off x="5760720" y="2093446"/>
              <a:ext cx="6248400" cy="1632734"/>
              <a:chOff x="5760720" y="2093446"/>
              <a:chExt cx="6248400" cy="1632734"/>
            </a:xfrm>
          </p:grpSpPr>
          <p:sp>
            <p:nvSpPr>
              <p:cNvPr id="56" name="矩形: 圆角 55">
                <a:extLst>
                  <a:ext uri="{FF2B5EF4-FFF2-40B4-BE49-F238E27FC236}">
                    <a16:creationId xmlns:a16="http://schemas.microsoft.com/office/drawing/2014/main" id="{D48E16E3-0D0A-2600-E64E-D69173D75E60}"/>
                  </a:ext>
                </a:extLst>
              </p:cNvPr>
              <p:cNvSpPr/>
              <p:nvPr/>
            </p:nvSpPr>
            <p:spPr>
              <a:xfrm>
                <a:off x="5760720" y="2095500"/>
                <a:ext cx="6248400" cy="1630680"/>
              </a:xfrm>
              <a:prstGeom prst="roundRect">
                <a:avLst>
                  <a:gd name="adj" fmla="val 2336"/>
                </a:avLst>
              </a:prstGeom>
              <a:gradFill>
                <a:gsLst>
                  <a:gs pos="0">
                    <a:srgbClr val="FFFFFF"/>
                  </a:gs>
                  <a:gs pos="50000">
                    <a:srgbClr val="F8FFFF"/>
                  </a:gs>
                  <a:gs pos="100000">
                    <a:srgbClr val="F2FFFF"/>
                  </a:gs>
                </a:gsLst>
                <a:lin ang="5400000" scaled="1"/>
              </a:gradFill>
              <a:ln w="17526" cap="flat">
                <a:solidFill>
                  <a:srgbClr val="0A8786"/>
                </a:solidFill>
                <a:prstDash val="solid"/>
                <a:miter/>
              </a:ln>
            </p:spPr>
          </p:sp>
          <p:sp>
            <p:nvSpPr>
              <p:cNvPr id="57" name="矩形: 圆角 56">
                <a:extLst>
                  <a:ext uri="{FF2B5EF4-FFF2-40B4-BE49-F238E27FC236}">
                    <a16:creationId xmlns:a16="http://schemas.microsoft.com/office/drawing/2014/main" id="{DC74B3EC-33E9-E1D2-34CA-7933CB52540E}"/>
                  </a:ext>
                </a:extLst>
              </p:cNvPr>
              <p:cNvSpPr/>
              <p:nvPr/>
            </p:nvSpPr>
            <p:spPr>
              <a:xfrm>
                <a:off x="5760720" y="2095500"/>
                <a:ext cx="6248400" cy="304800"/>
              </a:xfrm>
              <a:prstGeom prst="roundRect">
                <a:avLst>
                  <a:gd name="adj" fmla="val 12500"/>
                </a:avLst>
              </a:prstGeom>
              <a:gradFill>
                <a:gsLst>
                  <a:gs pos="0">
                    <a:srgbClr val="0A8E8D"/>
                  </a:gs>
                  <a:gs pos="50000">
                    <a:srgbClr val="0B8280"/>
                  </a:gs>
                  <a:gs pos="100000">
                    <a:srgbClr val="0C7774"/>
                  </a:gs>
                </a:gsLst>
                <a:lin ang="0" scaled="1"/>
              </a:gradFill>
              <a:ln w="7620" cap="flat">
                <a:noFill/>
                <a:prstDash val="solid"/>
                <a:miter/>
              </a:ln>
            </p:spPr>
          </p:sp>
          <p:sp>
            <p:nvSpPr>
              <p:cNvPr id="58" name="任意多边形: 形状 57">
                <a:extLst>
                  <a:ext uri="{FF2B5EF4-FFF2-40B4-BE49-F238E27FC236}">
                    <a16:creationId xmlns:a16="http://schemas.microsoft.com/office/drawing/2014/main" id="{D6D100C1-0DDC-EC3D-4A96-840ED2994A51}"/>
                  </a:ext>
                </a:extLst>
              </p:cNvPr>
              <p:cNvSpPr/>
              <p:nvPr/>
            </p:nvSpPr>
            <p:spPr>
              <a:xfrm>
                <a:off x="5760720" y="2316480"/>
                <a:ext cx="6248400" cy="83820"/>
              </a:xfrm>
              <a:custGeom>
                <a:avLst/>
                <a:gdLst>
                  <a:gd name="csX0" fmla="*/ 0 w 6248400"/>
                  <a:gd name="csY0" fmla="*/ 0 h 83820"/>
                  <a:gd name="csX1" fmla="*/ 6248400 w 6248400"/>
                  <a:gd name="csY1" fmla="*/ 0 h 83820"/>
                  <a:gd name="csX2" fmla="*/ 6248400 w 6248400"/>
                  <a:gd name="csY2" fmla="*/ 83820 h 83820"/>
                  <a:gd name="csX3" fmla="*/ 0 w 6248400"/>
                  <a:gd name="csY3" fmla="*/ 83820 h 83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248400" h="83820">
                    <a:moveTo>
                      <a:pt x="0" y="0"/>
                    </a:moveTo>
                    <a:lnTo>
                      <a:pt x="6248400" y="0"/>
                    </a:lnTo>
                    <a:lnTo>
                      <a:pt x="6248400" y="83820"/>
                    </a:lnTo>
                    <a:lnTo>
                      <a:pt x="0" y="83820"/>
                    </a:lnTo>
                    <a:close/>
                  </a:path>
                </a:pathLst>
              </a:custGeom>
              <a:gradFill>
                <a:gsLst>
                  <a:gs pos="0">
                    <a:srgbClr val="0A8E8D"/>
                  </a:gs>
                  <a:gs pos="50000">
                    <a:srgbClr val="0B8280"/>
                  </a:gs>
                  <a:gs pos="100000">
                    <a:srgbClr val="0C7774"/>
                  </a:gs>
                </a:gsLst>
                <a:lin ang="0" scaled="1"/>
              </a:gradFill>
              <a:ln w="7620" cap="flat">
                <a:noFill/>
                <a:prstDash val="solid"/>
                <a:miter/>
              </a:ln>
            </p:spPr>
          </p:sp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1D169649-C84C-7C83-70B0-AB2E8966FBBA}"/>
                  </a:ext>
                </a:extLst>
              </p:cNvPr>
              <p:cNvSpPr txBox="1"/>
              <p:nvPr/>
            </p:nvSpPr>
            <p:spPr>
              <a:xfrm>
                <a:off x="8115278" y="2093446"/>
                <a:ext cx="125226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600" b="1" spc="0" baseline="0" dirty="0">
                    <a:ln/>
                    <a:solidFill>
                      <a:srgbClr val="FFFFFF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4. 算法设计</a:t>
                </a:r>
              </a:p>
            </p:txBody>
          </p:sp>
          <p:sp>
            <p:nvSpPr>
              <p:cNvPr id="60" name="矩形: 圆角 59">
                <a:extLst>
                  <a:ext uri="{FF2B5EF4-FFF2-40B4-BE49-F238E27FC236}">
                    <a16:creationId xmlns:a16="http://schemas.microsoft.com/office/drawing/2014/main" id="{C7FC5DDE-51C0-BDA7-545D-03B178F9BFE0}"/>
                  </a:ext>
                </a:extLst>
              </p:cNvPr>
              <p:cNvSpPr/>
              <p:nvPr/>
            </p:nvSpPr>
            <p:spPr>
              <a:xfrm>
                <a:off x="5890260" y="2468880"/>
                <a:ext cx="2727960" cy="754380"/>
              </a:xfrm>
              <a:prstGeom prst="roundRect">
                <a:avLst>
                  <a:gd name="adj" fmla="val 4040"/>
                </a:avLst>
              </a:prstGeom>
              <a:solidFill>
                <a:srgbClr val="FFFFFF"/>
              </a:solidFill>
              <a:ln w="12954" cap="flat">
                <a:solidFill>
                  <a:srgbClr val="0A878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2A6308FE-D40D-810C-4C0B-E57BD4ED9C35}"/>
                  </a:ext>
                </a:extLst>
              </p:cNvPr>
              <p:cNvSpPr txBox="1"/>
              <p:nvPr/>
            </p:nvSpPr>
            <p:spPr>
              <a:xfrm>
                <a:off x="6049254" y="2479813"/>
                <a:ext cx="243688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400" b="1" spc="0" baseline="0" dirty="0">
                    <a:ln/>
                    <a:solidFill>
                      <a:srgbClr val="08706F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算法一：Dirichlet策略函数 </a:t>
                </a:r>
              </a:p>
            </p:txBody>
          </p:sp>
          <p:sp>
            <p:nvSpPr>
              <p:cNvPr id="64" name="矩形: 圆角 63">
                <a:extLst>
                  <a:ext uri="{FF2B5EF4-FFF2-40B4-BE49-F238E27FC236}">
                    <a16:creationId xmlns:a16="http://schemas.microsoft.com/office/drawing/2014/main" id="{3A393CFF-8D3E-5D5F-F8DE-583CF7984F0A}"/>
                  </a:ext>
                </a:extLst>
              </p:cNvPr>
              <p:cNvSpPr/>
              <p:nvPr/>
            </p:nvSpPr>
            <p:spPr>
              <a:xfrm>
                <a:off x="8953500" y="2468880"/>
                <a:ext cx="2849880" cy="754380"/>
              </a:xfrm>
              <a:prstGeom prst="roundRect">
                <a:avLst>
                  <a:gd name="adj" fmla="val 4040"/>
                </a:avLst>
              </a:prstGeom>
              <a:solidFill>
                <a:srgbClr val="FFFFFF"/>
              </a:solidFill>
              <a:ln w="12954" cap="flat">
                <a:solidFill>
                  <a:srgbClr val="0A878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43FF23FD-9A2C-392E-A4A2-B3BFB343107D}"/>
                  </a:ext>
                </a:extLst>
              </p:cNvPr>
              <p:cNvSpPr txBox="1"/>
              <p:nvPr/>
            </p:nvSpPr>
            <p:spPr>
              <a:xfrm>
                <a:off x="9385350" y="2482413"/>
                <a:ext cx="190808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400" b="1" spc="0" baseline="0" dirty="0">
                    <a:ln/>
                    <a:solidFill>
                      <a:srgbClr val="08706F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算法二：DRCPT-PG </a:t>
                </a:r>
              </a:p>
            </p:txBody>
          </p:sp>
          <p:sp>
            <p:nvSpPr>
              <p:cNvPr id="68" name="矩形: 圆角 67">
                <a:extLst>
                  <a:ext uri="{FF2B5EF4-FFF2-40B4-BE49-F238E27FC236}">
                    <a16:creationId xmlns:a16="http://schemas.microsoft.com/office/drawing/2014/main" id="{013AA721-3143-495E-2F7F-C8B9E87F5DCF}"/>
                  </a:ext>
                </a:extLst>
              </p:cNvPr>
              <p:cNvSpPr/>
              <p:nvPr/>
            </p:nvSpPr>
            <p:spPr>
              <a:xfrm>
                <a:off x="5859780" y="3307080"/>
                <a:ext cx="5897880" cy="358140"/>
              </a:xfrm>
              <a:prstGeom prst="roundRect">
                <a:avLst>
                  <a:gd name="adj" fmla="val 8510"/>
                </a:avLst>
              </a:prstGeom>
              <a:solidFill>
                <a:srgbClr val="FFFFFF"/>
              </a:solidFill>
              <a:ln w="12954" cap="flat">
                <a:solidFill>
                  <a:srgbClr val="0A8786"/>
                </a:solidFill>
                <a:custDash>
                  <a:ds d="600000" sp="375000"/>
                </a:custDash>
                <a:miter/>
              </a:ln>
            </p:spPr>
          </p:sp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4AC2BF16-AA22-C04F-8231-8980F6CE9C6F}"/>
                  </a:ext>
                </a:extLst>
              </p:cNvPr>
              <p:cNvSpPr txBox="1"/>
              <p:nvPr/>
            </p:nvSpPr>
            <p:spPr>
              <a:xfrm>
                <a:off x="5798939" y="3334881"/>
                <a:ext cx="608051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b="1" spc="0" baseline="0" dirty="0">
                    <a:ln/>
                    <a:solidFill>
                      <a:srgbClr val="111111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股票因子/参考点/策略参数 → 投资组合 → 财富轨迹 → CPT策略梯度</a:t>
                </a:r>
                <a:r>
                  <a:rPr lang="zh-CN" altLang="en-US" sz="1200" b="1" dirty="0">
                    <a:ln/>
                    <a:solidFill>
                      <a:srgbClr val="111111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估计</a:t>
                </a:r>
                <a:r>
                  <a:rPr lang="zh-CN" altLang="en-US" sz="1200" b="1" spc="0" baseline="0" dirty="0">
                    <a:ln/>
                    <a:solidFill>
                      <a:srgbClr val="111111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 → 参数更新</a:t>
                </a:r>
              </a:p>
            </p:txBody>
          </p:sp>
        </p:grpSp>
        <p:grpSp>
          <p:nvGrpSpPr>
            <p:cNvPr id="70" name="图形 6">
              <a:extLst>
                <a:ext uri="{FF2B5EF4-FFF2-40B4-BE49-F238E27FC236}">
                  <a16:creationId xmlns:a16="http://schemas.microsoft.com/office/drawing/2014/main" id="{3AA10F9E-0EE3-5210-F8D0-B840E34231AE}"/>
                </a:ext>
              </a:extLst>
            </p:cNvPr>
            <p:cNvGrpSpPr/>
            <p:nvPr/>
          </p:nvGrpSpPr>
          <p:grpSpPr>
            <a:xfrm>
              <a:off x="167640" y="3700443"/>
              <a:ext cx="5143500" cy="1001097"/>
              <a:chOff x="167640" y="3700443"/>
              <a:chExt cx="5143500" cy="1001097"/>
            </a:xfrm>
          </p:grpSpPr>
          <p:sp>
            <p:nvSpPr>
              <p:cNvPr id="71" name="矩形: 圆角 70">
                <a:extLst>
                  <a:ext uri="{FF2B5EF4-FFF2-40B4-BE49-F238E27FC236}">
                    <a16:creationId xmlns:a16="http://schemas.microsoft.com/office/drawing/2014/main" id="{61B1E294-ABEE-10A5-7A3C-BA0A6E8F4DE8}"/>
                  </a:ext>
                </a:extLst>
              </p:cNvPr>
              <p:cNvSpPr/>
              <p:nvPr/>
            </p:nvSpPr>
            <p:spPr>
              <a:xfrm>
                <a:off x="167640" y="3703320"/>
                <a:ext cx="5143500" cy="998220"/>
              </a:xfrm>
              <a:prstGeom prst="roundRect">
                <a:avLst>
                  <a:gd name="adj" fmla="val 3816"/>
                </a:avLst>
              </a:prstGeom>
              <a:gradFill>
                <a:gsLst>
                  <a:gs pos="0">
                    <a:srgbClr val="FFFFFF"/>
                  </a:gs>
                  <a:gs pos="50000">
                    <a:srgbClr val="FBFDFF"/>
                  </a:gs>
                  <a:gs pos="100000">
                    <a:srgbClr val="F8FBFF"/>
                  </a:gs>
                </a:gsLst>
                <a:lin ang="5400000" scaled="1"/>
              </a:gradFill>
              <a:ln w="17526" cap="flat">
                <a:solidFill>
                  <a:srgbClr val="0A3F8D"/>
                </a:solidFill>
                <a:prstDash val="solid"/>
                <a:miter/>
              </a:ln>
            </p:spPr>
          </p:sp>
          <p:sp>
            <p:nvSpPr>
              <p:cNvPr id="72" name="矩形: 圆角 71">
                <a:extLst>
                  <a:ext uri="{FF2B5EF4-FFF2-40B4-BE49-F238E27FC236}">
                    <a16:creationId xmlns:a16="http://schemas.microsoft.com/office/drawing/2014/main" id="{6ABB9378-6313-AF6C-FFCB-7CE8EB67230D}"/>
                  </a:ext>
                </a:extLst>
              </p:cNvPr>
              <p:cNvSpPr/>
              <p:nvPr/>
            </p:nvSpPr>
            <p:spPr>
              <a:xfrm>
                <a:off x="167640" y="3703320"/>
                <a:ext cx="5143500" cy="304800"/>
              </a:xfrm>
              <a:prstGeom prst="roundRect">
                <a:avLst>
                  <a:gd name="adj" fmla="val 12500"/>
                </a:avLst>
              </a:prstGeom>
              <a:gradFill>
                <a:gsLst>
                  <a:gs pos="0">
                    <a:srgbClr val="0B3F8A"/>
                  </a:gs>
                  <a:gs pos="50000">
                    <a:srgbClr val="094D99"/>
                  </a:gs>
                  <a:gs pos="100000">
                    <a:srgbClr val="075BA8"/>
                  </a:gs>
                </a:gsLst>
                <a:lin ang="0" scaled="1"/>
              </a:gradFill>
              <a:ln w="7620" cap="flat">
                <a:noFill/>
                <a:prstDash val="solid"/>
                <a:miter/>
              </a:ln>
            </p:spPr>
          </p:sp>
          <p:sp>
            <p:nvSpPr>
              <p:cNvPr id="73" name="任意多边形: 形状 72">
                <a:extLst>
                  <a:ext uri="{FF2B5EF4-FFF2-40B4-BE49-F238E27FC236}">
                    <a16:creationId xmlns:a16="http://schemas.microsoft.com/office/drawing/2014/main" id="{B7606D26-79B1-0422-D573-EA4BACE07881}"/>
                  </a:ext>
                </a:extLst>
              </p:cNvPr>
              <p:cNvSpPr/>
              <p:nvPr/>
            </p:nvSpPr>
            <p:spPr>
              <a:xfrm>
                <a:off x="167640" y="3924300"/>
                <a:ext cx="5143500" cy="83820"/>
              </a:xfrm>
              <a:custGeom>
                <a:avLst/>
                <a:gdLst>
                  <a:gd name="csX0" fmla="*/ 0 w 5143500"/>
                  <a:gd name="csY0" fmla="*/ 0 h 83820"/>
                  <a:gd name="csX1" fmla="*/ 5143500 w 5143500"/>
                  <a:gd name="csY1" fmla="*/ 0 h 83820"/>
                  <a:gd name="csX2" fmla="*/ 5143500 w 5143500"/>
                  <a:gd name="csY2" fmla="*/ 83820 h 83820"/>
                  <a:gd name="csX3" fmla="*/ 0 w 5143500"/>
                  <a:gd name="csY3" fmla="*/ 83820 h 83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143500" h="83820">
                    <a:moveTo>
                      <a:pt x="0" y="0"/>
                    </a:moveTo>
                    <a:lnTo>
                      <a:pt x="5143500" y="0"/>
                    </a:lnTo>
                    <a:lnTo>
                      <a:pt x="5143500" y="83820"/>
                    </a:lnTo>
                    <a:lnTo>
                      <a:pt x="0" y="83820"/>
                    </a:lnTo>
                    <a:close/>
                  </a:path>
                </a:pathLst>
              </a:custGeom>
              <a:gradFill>
                <a:gsLst>
                  <a:gs pos="0">
                    <a:srgbClr val="0B3F8A"/>
                  </a:gs>
                  <a:gs pos="50000">
                    <a:srgbClr val="094D99"/>
                  </a:gs>
                  <a:gs pos="100000">
                    <a:srgbClr val="075BA8"/>
                  </a:gs>
                </a:gsLst>
                <a:lin ang="0" scaled="1"/>
              </a:gradFill>
              <a:ln w="7620" cap="flat">
                <a:noFill/>
                <a:prstDash val="solid"/>
                <a:miter/>
              </a:ln>
            </p:spPr>
          </p:sp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3766E03B-3BC8-2412-753A-1E8E29AD9F34}"/>
                  </a:ext>
                </a:extLst>
              </p:cNvPr>
              <p:cNvSpPr txBox="1"/>
              <p:nvPr/>
            </p:nvSpPr>
            <p:spPr>
              <a:xfrm>
                <a:off x="2047217" y="3700443"/>
                <a:ext cx="125226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600" b="1" spc="0" baseline="0" dirty="0">
                    <a:ln/>
                    <a:solidFill>
                      <a:srgbClr val="FFFFFF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5. 理论分析</a:t>
                </a:r>
              </a:p>
            </p:txBody>
          </p:sp>
          <p:sp>
            <p:nvSpPr>
              <p:cNvPr id="75" name="矩形: 圆角 74">
                <a:extLst>
                  <a:ext uri="{FF2B5EF4-FFF2-40B4-BE49-F238E27FC236}">
                    <a16:creationId xmlns:a16="http://schemas.microsoft.com/office/drawing/2014/main" id="{357EE82E-0E07-44C2-D038-CD4AF4AD8948}"/>
                  </a:ext>
                </a:extLst>
              </p:cNvPr>
              <p:cNvSpPr/>
              <p:nvPr/>
            </p:nvSpPr>
            <p:spPr>
              <a:xfrm>
                <a:off x="289560" y="4061460"/>
                <a:ext cx="1021080" cy="571500"/>
              </a:xfrm>
              <a:prstGeom prst="roundRect">
                <a:avLst>
                  <a:gd name="adj" fmla="val 5333"/>
                </a:avLst>
              </a:prstGeom>
              <a:solidFill>
                <a:srgbClr val="FFFFFF"/>
              </a:solidFill>
              <a:ln w="13716" cap="flat">
                <a:solidFill>
                  <a:srgbClr val="0C61B5"/>
                </a:solidFill>
                <a:prstDash val="solid"/>
                <a:miter/>
              </a:ln>
            </p:spPr>
          </p:sp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A5E117AD-4259-EEDD-E395-A830356B977D}"/>
                  </a:ext>
                </a:extLst>
              </p:cNvPr>
              <p:cNvSpPr txBox="1"/>
              <p:nvPr/>
            </p:nvSpPr>
            <p:spPr>
              <a:xfrm>
                <a:off x="442121" y="4052604"/>
                <a:ext cx="670376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300" b="1" spc="0" baseline="0" dirty="0">
                    <a:ln/>
                    <a:solidFill>
                      <a:srgbClr val="09285E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引理1 </a:t>
                </a:r>
              </a:p>
            </p:txBody>
          </p:sp>
          <p:sp>
            <p:nvSpPr>
              <p:cNvPr id="79" name="矩形: 圆角 78">
                <a:extLst>
                  <a:ext uri="{FF2B5EF4-FFF2-40B4-BE49-F238E27FC236}">
                    <a16:creationId xmlns:a16="http://schemas.microsoft.com/office/drawing/2014/main" id="{1FA9647D-7448-BB35-88C4-1554A139117C}"/>
                  </a:ext>
                </a:extLst>
              </p:cNvPr>
              <p:cNvSpPr/>
              <p:nvPr/>
            </p:nvSpPr>
            <p:spPr>
              <a:xfrm>
                <a:off x="1470660" y="4061460"/>
                <a:ext cx="1371600" cy="571500"/>
              </a:xfrm>
              <a:prstGeom prst="roundRect">
                <a:avLst>
                  <a:gd name="adj" fmla="val 5333"/>
                </a:avLst>
              </a:prstGeom>
              <a:solidFill>
                <a:srgbClr val="FFFFFF"/>
              </a:solidFill>
              <a:ln w="13716" cap="flat">
                <a:solidFill>
                  <a:srgbClr val="0C61B5"/>
                </a:solidFill>
                <a:prstDash val="solid"/>
                <a:miter/>
              </a:ln>
            </p:spPr>
          </p:sp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8191B50D-267F-8F67-138C-A31FAF09883D}"/>
                  </a:ext>
                </a:extLst>
              </p:cNvPr>
              <p:cNvSpPr txBox="1"/>
              <p:nvPr/>
            </p:nvSpPr>
            <p:spPr>
              <a:xfrm>
                <a:off x="1868331" y="4052604"/>
                <a:ext cx="670376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300" b="1" spc="0" baseline="0" dirty="0">
                    <a:ln/>
                    <a:solidFill>
                      <a:srgbClr val="09285E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引理2 </a:t>
                </a:r>
              </a:p>
            </p:txBody>
          </p:sp>
          <p:sp>
            <p:nvSpPr>
              <p:cNvPr id="83" name="矩形: 圆角 82">
                <a:extLst>
                  <a:ext uri="{FF2B5EF4-FFF2-40B4-BE49-F238E27FC236}">
                    <a16:creationId xmlns:a16="http://schemas.microsoft.com/office/drawing/2014/main" id="{633BC5B7-E7AE-45A0-9286-DDE456BAC2B3}"/>
                  </a:ext>
                </a:extLst>
              </p:cNvPr>
              <p:cNvSpPr/>
              <p:nvPr/>
            </p:nvSpPr>
            <p:spPr>
              <a:xfrm>
                <a:off x="2979420" y="4061460"/>
                <a:ext cx="1127760" cy="571500"/>
              </a:xfrm>
              <a:prstGeom prst="roundRect">
                <a:avLst>
                  <a:gd name="adj" fmla="val 5333"/>
                </a:avLst>
              </a:prstGeom>
              <a:solidFill>
                <a:srgbClr val="FFFFFF"/>
              </a:solidFill>
              <a:ln w="13716" cap="flat">
                <a:solidFill>
                  <a:srgbClr val="0C61B5"/>
                </a:solidFill>
                <a:prstDash val="solid"/>
                <a:miter/>
              </a:ln>
            </p:spPr>
          </p:sp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33DA8EC0-A642-64EC-D54E-E6E0B49F0214}"/>
                  </a:ext>
                </a:extLst>
              </p:cNvPr>
              <p:cNvSpPr txBox="1"/>
              <p:nvPr/>
            </p:nvSpPr>
            <p:spPr>
              <a:xfrm>
                <a:off x="3217071" y="4039904"/>
                <a:ext cx="670376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300" b="1" spc="0" baseline="0" dirty="0">
                    <a:ln/>
                    <a:solidFill>
                      <a:srgbClr val="09285E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定理1 </a:t>
                </a:r>
              </a:p>
            </p:txBody>
          </p:sp>
          <p:sp>
            <p:nvSpPr>
              <p:cNvPr id="87" name="矩形: 圆角 86">
                <a:extLst>
                  <a:ext uri="{FF2B5EF4-FFF2-40B4-BE49-F238E27FC236}">
                    <a16:creationId xmlns:a16="http://schemas.microsoft.com/office/drawing/2014/main" id="{544EF4FC-9D30-4A53-8368-B6334096D51F}"/>
                  </a:ext>
                </a:extLst>
              </p:cNvPr>
              <p:cNvSpPr/>
              <p:nvPr/>
            </p:nvSpPr>
            <p:spPr>
              <a:xfrm>
                <a:off x="4244340" y="4061460"/>
                <a:ext cx="952500" cy="571500"/>
              </a:xfrm>
              <a:prstGeom prst="roundRect">
                <a:avLst>
                  <a:gd name="adj" fmla="val 5333"/>
                </a:avLst>
              </a:prstGeom>
              <a:solidFill>
                <a:srgbClr val="FFFFFF"/>
              </a:solidFill>
              <a:ln w="13716" cap="flat">
                <a:solidFill>
                  <a:srgbClr val="0C61B5"/>
                </a:solidFill>
                <a:prstDash val="solid"/>
                <a:miter/>
              </a:ln>
            </p:spPr>
          </p:sp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87B90E44-FD71-262E-B57D-09DA0C073BB4}"/>
                  </a:ext>
                </a:extLst>
              </p:cNvPr>
              <p:cNvSpPr txBox="1"/>
              <p:nvPr/>
            </p:nvSpPr>
            <p:spPr>
              <a:xfrm>
                <a:off x="4417221" y="4038242"/>
                <a:ext cx="670376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300" b="1" spc="0" baseline="0" dirty="0">
                    <a:ln/>
                    <a:solidFill>
                      <a:srgbClr val="09285E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推论1 </a:t>
                </a:r>
              </a:p>
            </p:txBody>
          </p:sp>
        </p:grpSp>
        <p:grpSp>
          <p:nvGrpSpPr>
            <p:cNvPr id="91" name="图形 6">
              <a:extLst>
                <a:ext uri="{FF2B5EF4-FFF2-40B4-BE49-F238E27FC236}">
                  <a16:creationId xmlns:a16="http://schemas.microsoft.com/office/drawing/2014/main" id="{202484F2-09D2-5F7E-BC21-C0216E96AC8C}"/>
                </a:ext>
              </a:extLst>
            </p:cNvPr>
            <p:cNvGrpSpPr/>
            <p:nvPr/>
          </p:nvGrpSpPr>
          <p:grpSpPr>
            <a:xfrm>
              <a:off x="167640" y="4858110"/>
              <a:ext cx="7597140" cy="1824630"/>
              <a:chOff x="167640" y="4858110"/>
              <a:chExt cx="7597140" cy="1824630"/>
            </a:xfrm>
          </p:grpSpPr>
          <p:sp>
            <p:nvSpPr>
              <p:cNvPr id="92" name="矩形: 圆角 91">
                <a:extLst>
                  <a:ext uri="{FF2B5EF4-FFF2-40B4-BE49-F238E27FC236}">
                    <a16:creationId xmlns:a16="http://schemas.microsoft.com/office/drawing/2014/main" id="{3C45E7EA-3A85-9DD0-2286-1A985FFB4589}"/>
                  </a:ext>
                </a:extLst>
              </p:cNvPr>
              <p:cNvSpPr/>
              <p:nvPr/>
            </p:nvSpPr>
            <p:spPr>
              <a:xfrm>
                <a:off x="167640" y="4861560"/>
                <a:ext cx="7597140" cy="1821180"/>
              </a:xfrm>
              <a:prstGeom prst="roundRect">
                <a:avLst>
                  <a:gd name="adj" fmla="val 2510"/>
                </a:avLst>
              </a:prstGeom>
              <a:gradFill>
                <a:gsLst>
                  <a:gs pos="0">
                    <a:srgbClr val="FFFFFF"/>
                  </a:gs>
                  <a:gs pos="50000">
                    <a:srgbClr val="FFFBF8"/>
                  </a:gs>
                  <a:gs pos="100000">
                    <a:srgbClr val="FFF8F1"/>
                  </a:gs>
                </a:gsLst>
                <a:lin ang="5400000" scaled="1"/>
              </a:gradFill>
              <a:ln w="17526" cap="flat">
                <a:solidFill>
                  <a:srgbClr val="F06A00"/>
                </a:solidFill>
                <a:prstDash val="solid"/>
                <a:miter/>
              </a:ln>
            </p:spPr>
          </p:sp>
          <p:sp>
            <p:nvSpPr>
              <p:cNvPr id="93" name="矩形: 圆角 92">
                <a:extLst>
                  <a:ext uri="{FF2B5EF4-FFF2-40B4-BE49-F238E27FC236}">
                    <a16:creationId xmlns:a16="http://schemas.microsoft.com/office/drawing/2014/main" id="{1BDB944C-5431-9A13-A013-A66B25C03068}"/>
                  </a:ext>
                </a:extLst>
              </p:cNvPr>
              <p:cNvSpPr/>
              <p:nvPr/>
            </p:nvSpPr>
            <p:spPr>
              <a:xfrm>
                <a:off x="167640" y="4861560"/>
                <a:ext cx="7597140" cy="304800"/>
              </a:xfrm>
              <a:prstGeom prst="roundRect">
                <a:avLst>
                  <a:gd name="adj" fmla="val 15000"/>
                </a:avLst>
              </a:prstGeom>
              <a:gradFill>
                <a:gsLst>
                  <a:gs pos="0">
                    <a:srgbClr val="FF7B00"/>
                  </a:gs>
                  <a:gs pos="50000">
                    <a:srgbClr val="F67000"/>
                  </a:gs>
                  <a:gs pos="100000">
                    <a:srgbClr val="EE6500"/>
                  </a:gs>
                </a:gsLst>
                <a:lin ang="0" scaled="1"/>
              </a:gradFill>
              <a:ln w="7620" cap="flat">
                <a:noFill/>
                <a:prstDash val="solid"/>
                <a:miter/>
              </a:ln>
            </p:spPr>
          </p:sp>
          <p:sp>
            <p:nvSpPr>
              <p:cNvPr id="94" name="任意多边形: 形状 93">
                <a:extLst>
                  <a:ext uri="{FF2B5EF4-FFF2-40B4-BE49-F238E27FC236}">
                    <a16:creationId xmlns:a16="http://schemas.microsoft.com/office/drawing/2014/main" id="{06F86D9E-64AB-75A3-D663-90EB01BA98CC}"/>
                  </a:ext>
                </a:extLst>
              </p:cNvPr>
              <p:cNvSpPr/>
              <p:nvPr/>
            </p:nvSpPr>
            <p:spPr>
              <a:xfrm>
                <a:off x="167640" y="5082540"/>
                <a:ext cx="7597140" cy="83820"/>
              </a:xfrm>
              <a:custGeom>
                <a:avLst/>
                <a:gdLst>
                  <a:gd name="csX0" fmla="*/ 0 w 7597140"/>
                  <a:gd name="csY0" fmla="*/ 0 h 83820"/>
                  <a:gd name="csX1" fmla="*/ 7597140 w 7597140"/>
                  <a:gd name="csY1" fmla="*/ 0 h 83820"/>
                  <a:gd name="csX2" fmla="*/ 7597140 w 7597140"/>
                  <a:gd name="csY2" fmla="*/ 83820 h 83820"/>
                  <a:gd name="csX3" fmla="*/ 0 w 7597140"/>
                  <a:gd name="csY3" fmla="*/ 83820 h 83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597140" h="83820">
                    <a:moveTo>
                      <a:pt x="0" y="0"/>
                    </a:moveTo>
                    <a:lnTo>
                      <a:pt x="7597140" y="0"/>
                    </a:lnTo>
                    <a:lnTo>
                      <a:pt x="7597140" y="83820"/>
                    </a:lnTo>
                    <a:lnTo>
                      <a:pt x="0" y="83820"/>
                    </a:lnTo>
                    <a:close/>
                  </a:path>
                </a:pathLst>
              </a:custGeom>
              <a:gradFill>
                <a:gsLst>
                  <a:gs pos="0">
                    <a:srgbClr val="FF7B00"/>
                  </a:gs>
                  <a:gs pos="50000">
                    <a:srgbClr val="F67000"/>
                  </a:gs>
                  <a:gs pos="100000">
                    <a:srgbClr val="EE6500"/>
                  </a:gs>
                </a:gsLst>
                <a:lin ang="0" scaled="1"/>
              </a:gradFill>
              <a:ln w="7620" cap="flat">
                <a:noFill/>
                <a:prstDash val="solid"/>
                <a:miter/>
              </a:ln>
            </p:spPr>
          </p:sp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6FDF54F7-771D-09A2-3585-C6623D23BCE6}"/>
                  </a:ext>
                </a:extLst>
              </p:cNvPr>
              <p:cNvSpPr txBox="1"/>
              <p:nvPr/>
            </p:nvSpPr>
            <p:spPr>
              <a:xfrm>
                <a:off x="2899391" y="4858110"/>
                <a:ext cx="227818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600" b="1" spc="0" baseline="0" dirty="0">
                    <a:ln/>
                    <a:solidFill>
                      <a:srgbClr val="FFFFFF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6. 仿真实验与实证评估</a:t>
                </a:r>
              </a:p>
            </p:txBody>
          </p:sp>
          <p:sp>
            <p:nvSpPr>
              <p:cNvPr id="96" name="矩形: 圆角 95">
                <a:extLst>
                  <a:ext uri="{FF2B5EF4-FFF2-40B4-BE49-F238E27FC236}">
                    <a16:creationId xmlns:a16="http://schemas.microsoft.com/office/drawing/2014/main" id="{3FBAEE44-A2EE-B96E-D798-7091441F63F4}"/>
                  </a:ext>
                </a:extLst>
              </p:cNvPr>
              <p:cNvSpPr/>
              <p:nvPr/>
            </p:nvSpPr>
            <p:spPr>
              <a:xfrm>
                <a:off x="266700" y="5181600"/>
                <a:ext cx="3459480" cy="1325880"/>
              </a:xfrm>
              <a:prstGeom prst="roundRect">
                <a:avLst>
                  <a:gd name="adj" fmla="val 2873"/>
                </a:avLst>
              </a:prstGeom>
              <a:solidFill>
                <a:srgbClr val="FFFDF9"/>
              </a:solidFill>
              <a:ln w="11430" cap="flat">
                <a:solidFill>
                  <a:srgbClr val="F06A00"/>
                </a:solidFill>
                <a:custDash>
                  <a:ds d="525000" sp="375000"/>
                </a:custDash>
                <a:miter/>
              </a:ln>
            </p:spPr>
          </p:sp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5BF5A5AC-AC6D-0586-2BAC-014980ABE420}"/>
                  </a:ext>
                </a:extLst>
              </p:cNvPr>
              <p:cNvSpPr txBox="1"/>
              <p:nvPr/>
            </p:nvSpPr>
            <p:spPr>
              <a:xfrm>
                <a:off x="1066800" y="5156619"/>
                <a:ext cx="198002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400" b="1" spc="0" baseline="0" dirty="0">
                    <a:ln/>
                    <a:solidFill>
                      <a:srgbClr val="F06A00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半合成非平稳市场实验</a:t>
                </a:r>
              </a:p>
            </p:txBody>
          </p:sp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0B582091-9C3C-3E76-E0B8-3F81F14AB056}"/>
                  </a:ext>
                </a:extLst>
              </p:cNvPr>
              <p:cNvSpPr txBox="1"/>
              <p:nvPr/>
            </p:nvSpPr>
            <p:spPr>
              <a:xfrm>
                <a:off x="289857" y="5426179"/>
                <a:ext cx="3482043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zh-CN" altLang="en-US" sz="1200" b="1" spc="0" baseline="0" dirty="0">
                    <a:ln/>
                    <a:solidFill>
                      <a:srgbClr val="111111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定理验证与跟踪能力检验</a:t>
                </a:r>
                <a:endParaRPr lang="en-US" altLang="zh-CN" sz="1200" b="1" spc="0" baseline="0" dirty="0">
                  <a:ln/>
                  <a:solidFill>
                    <a:srgbClr val="111111"/>
                  </a:solidFill>
                  <a:latin typeface="微软雅黑"/>
                  <a:ea typeface="微软雅黑"/>
                  <a:sym typeface="微软雅黑"/>
                  <a:rtl val="0"/>
                </a:endParaRP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zh-CN" altLang="en-US" sz="1200" b="1" dirty="0">
                    <a:ln/>
                    <a:solidFill>
                      <a:srgbClr val="111111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基线比较：期望效用</a:t>
                </a:r>
                <a:r>
                  <a:rPr lang="en-US" altLang="zh-CN" sz="1200" b="1" dirty="0">
                    <a:ln/>
                    <a:solidFill>
                      <a:srgbClr val="111111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PG</a:t>
                </a:r>
                <a:r>
                  <a:rPr lang="zh-CN" altLang="en-US" sz="1200" b="1" dirty="0">
                    <a:ln/>
                    <a:solidFill>
                      <a:srgbClr val="111111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、指数效用</a:t>
                </a:r>
                <a:r>
                  <a:rPr lang="en-US" altLang="zh-CN" sz="1200" b="1" dirty="0">
                    <a:ln/>
                    <a:solidFill>
                      <a:srgbClr val="111111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PG</a:t>
                </a: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zh-CN" altLang="en-US" sz="1200" b="1" spc="0" baseline="0" dirty="0">
                    <a:ln/>
                    <a:solidFill>
                      <a:srgbClr val="111111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消融实验：动态</a:t>
                </a:r>
                <a:r>
                  <a:rPr lang="en-US" altLang="zh-CN" sz="1200" b="1" spc="0" baseline="0" dirty="0">
                    <a:ln/>
                    <a:solidFill>
                      <a:srgbClr val="111111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/</a:t>
                </a:r>
                <a:r>
                  <a:rPr lang="zh-CN" altLang="en-US" sz="1200" b="1" spc="0" baseline="0" dirty="0">
                    <a:ln/>
                    <a:solidFill>
                      <a:srgbClr val="111111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静态、非对称</a:t>
                </a:r>
                <a:r>
                  <a:rPr lang="en-US" altLang="zh-CN" sz="1200" b="1" spc="0" baseline="0" dirty="0">
                    <a:ln/>
                    <a:solidFill>
                      <a:srgbClr val="111111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/</a:t>
                </a:r>
                <a:r>
                  <a:rPr lang="zh-CN" altLang="en-US" sz="1200" b="1" spc="0" baseline="0" dirty="0">
                    <a:ln/>
                    <a:solidFill>
                      <a:srgbClr val="111111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对称参考点</a:t>
                </a:r>
                <a:endParaRPr lang="en-US" altLang="zh-CN" sz="1200" b="1" spc="0" baseline="0" dirty="0">
                  <a:ln/>
                  <a:solidFill>
                    <a:srgbClr val="111111"/>
                  </a:solidFill>
                  <a:latin typeface="微软雅黑"/>
                  <a:ea typeface="微软雅黑"/>
                  <a:sym typeface="微软雅黑"/>
                  <a:rtl val="0"/>
                </a:endParaRP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zh-CN" altLang="en-US" sz="1200" b="1" dirty="0">
                    <a:ln/>
                    <a:solidFill>
                      <a:srgbClr val="111111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行为验证：路径依赖、处置效应</a:t>
                </a:r>
                <a:endParaRPr lang="en-US" altLang="zh-CN" sz="1200" b="1" dirty="0">
                  <a:ln/>
                  <a:solidFill>
                    <a:srgbClr val="111111"/>
                  </a:solidFill>
                  <a:latin typeface="微软雅黑"/>
                  <a:ea typeface="微软雅黑"/>
                  <a:sym typeface="微软雅黑"/>
                  <a:rtl val="0"/>
                </a:endParaRP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US" altLang="zh-CN" sz="1200" b="1" spc="0" baseline="0" dirty="0">
                    <a:ln/>
                    <a:solidFill>
                      <a:srgbClr val="111111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A</a:t>
                </a:r>
                <a:r>
                  <a:rPr lang="zh-CN" altLang="en-US" sz="1200" b="1" spc="0" baseline="0" dirty="0">
                    <a:ln/>
                    <a:solidFill>
                      <a:srgbClr val="111111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股回测：收益、</a:t>
                </a:r>
                <a:r>
                  <a:rPr lang="en-US" altLang="zh-CN" sz="1200" b="1" spc="0" baseline="0" dirty="0">
                    <a:ln/>
                    <a:solidFill>
                      <a:srgbClr val="111111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Sharpe</a:t>
                </a:r>
                <a:r>
                  <a:rPr lang="zh-CN" altLang="en-US" sz="1200" b="1" spc="0" baseline="0" dirty="0">
                    <a:ln/>
                    <a:solidFill>
                      <a:srgbClr val="111111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、最大回撤等 </a:t>
                </a:r>
              </a:p>
            </p:txBody>
          </p:sp>
          <p:sp>
            <p:nvSpPr>
              <p:cNvPr id="104" name="矩形: 圆角 103">
                <a:extLst>
                  <a:ext uri="{FF2B5EF4-FFF2-40B4-BE49-F238E27FC236}">
                    <a16:creationId xmlns:a16="http://schemas.microsoft.com/office/drawing/2014/main" id="{0D8C9229-7CED-3562-5EB4-E996F6A952F9}"/>
                  </a:ext>
                </a:extLst>
              </p:cNvPr>
              <p:cNvSpPr/>
              <p:nvPr/>
            </p:nvSpPr>
            <p:spPr>
              <a:xfrm>
                <a:off x="3985260" y="5181600"/>
                <a:ext cx="3642360" cy="1325880"/>
              </a:xfrm>
              <a:prstGeom prst="roundRect">
                <a:avLst>
                  <a:gd name="adj" fmla="val 2873"/>
                </a:avLst>
              </a:prstGeom>
              <a:solidFill>
                <a:srgbClr val="FFFDF9"/>
              </a:solidFill>
              <a:ln w="11430" cap="flat">
                <a:solidFill>
                  <a:srgbClr val="F06A00"/>
                </a:solidFill>
                <a:custDash>
                  <a:ds d="525000" sp="375000"/>
                </a:custDash>
                <a:miter/>
              </a:ln>
            </p:spPr>
          </p:sp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6A7DB2A1-1BDD-C058-CD3F-E38B53440018}"/>
                  </a:ext>
                </a:extLst>
              </p:cNvPr>
              <p:cNvSpPr txBox="1"/>
              <p:nvPr/>
            </p:nvSpPr>
            <p:spPr>
              <a:xfrm>
                <a:off x="4709160" y="5156619"/>
                <a:ext cx="233910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400" b="1" spc="0" baseline="0">
                    <a:ln/>
                    <a:solidFill>
                      <a:srgbClr val="F06A00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异质散户多智能体交互评估</a:t>
                </a:r>
              </a:p>
            </p:txBody>
          </p:sp>
        </p:grpSp>
        <p:grpSp>
          <p:nvGrpSpPr>
            <p:cNvPr id="110" name="图形 6">
              <a:extLst>
                <a:ext uri="{FF2B5EF4-FFF2-40B4-BE49-F238E27FC236}">
                  <a16:creationId xmlns:a16="http://schemas.microsoft.com/office/drawing/2014/main" id="{0F322A75-6886-336B-8716-BA377EF2B789}"/>
                </a:ext>
              </a:extLst>
            </p:cNvPr>
            <p:cNvGrpSpPr/>
            <p:nvPr/>
          </p:nvGrpSpPr>
          <p:grpSpPr>
            <a:xfrm>
              <a:off x="8595360" y="4781910"/>
              <a:ext cx="3413760" cy="1900830"/>
              <a:chOff x="8595360" y="4781910"/>
              <a:chExt cx="3413760" cy="1900830"/>
            </a:xfrm>
          </p:grpSpPr>
          <p:sp>
            <p:nvSpPr>
              <p:cNvPr id="111" name="矩形: 圆角 110">
                <a:extLst>
                  <a:ext uri="{FF2B5EF4-FFF2-40B4-BE49-F238E27FC236}">
                    <a16:creationId xmlns:a16="http://schemas.microsoft.com/office/drawing/2014/main" id="{93B5037C-853C-96E5-B89E-C629A0B1D033}"/>
                  </a:ext>
                </a:extLst>
              </p:cNvPr>
              <p:cNvSpPr/>
              <p:nvPr/>
            </p:nvSpPr>
            <p:spPr>
              <a:xfrm>
                <a:off x="8595360" y="4785360"/>
                <a:ext cx="3413760" cy="1897380"/>
              </a:xfrm>
              <a:prstGeom prst="roundRect">
                <a:avLst>
                  <a:gd name="adj" fmla="val 2409"/>
                </a:avLst>
              </a:prstGeom>
              <a:gradFill>
                <a:gsLst>
                  <a:gs pos="0">
                    <a:srgbClr val="FFFFFF"/>
                  </a:gs>
                  <a:gs pos="50000">
                    <a:srgbClr val="FFFBF8"/>
                  </a:gs>
                  <a:gs pos="100000">
                    <a:srgbClr val="FFF8F1"/>
                  </a:gs>
                </a:gsLst>
                <a:lin ang="5400000" scaled="1"/>
              </a:gradFill>
              <a:ln w="17526" cap="flat">
                <a:solidFill>
                  <a:srgbClr val="F06A00"/>
                </a:solidFill>
                <a:prstDash val="solid"/>
                <a:miter/>
              </a:ln>
            </p:spPr>
          </p:sp>
          <p:sp>
            <p:nvSpPr>
              <p:cNvPr id="112" name="矩形: 圆角 111">
                <a:extLst>
                  <a:ext uri="{FF2B5EF4-FFF2-40B4-BE49-F238E27FC236}">
                    <a16:creationId xmlns:a16="http://schemas.microsoft.com/office/drawing/2014/main" id="{AB6F90F3-B1E0-BEAB-233A-1E3C02466A56}"/>
                  </a:ext>
                </a:extLst>
              </p:cNvPr>
              <p:cNvSpPr/>
              <p:nvPr/>
            </p:nvSpPr>
            <p:spPr>
              <a:xfrm>
                <a:off x="8595360" y="4785360"/>
                <a:ext cx="3413760" cy="304800"/>
              </a:xfrm>
              <a:prstGeom prst="roundRect">
                <a:avLst>
                  <a:gd name="adj" fmla="val 15000"/>
                </a:avLst>
              </a:prstGeom>
              <a:gradFill>
                <a:gsLst>
                  <a:gs pos="0">
                    <a:srgbClr val="FF7B00"/>
                  </a:gs>
                  <a:gs pos="50000">
                    <a:srgbClr val="F67000"/>
                  </a:gs>
                  <a:gs pos="100000">
                    <a:srgbClr val="EE6500"/>
                  </a:gs>
                </a:gsLst>
                <a:lin ang="0" scaled="1"/>
              </a:gradFill>
              <a:ln w="7620" cap="flat">
                <a:noFill/>
                <a:prstDash val="solid"/>
                <a:miter/>
              </a:ln>
            </p:spPr>
          </p:sp>
          <p:sp>
            <p:nvSpPr>
              <p:cNvPr id="113" name="任意多边形: 形状 112">
                <a:extLst>
                  <a:ext uri="{FF2B5EF4-FFF2-40B4-BE49-F238E27FC236}">
                    <a16:creationId xmlns:a16="http://schemas.microsoft.com/office/drawing/2014/main" id="{62D15D8C-8ED7-C42F-3A05-CDB2E06A2E6B}"/>
                  </a:ext>
                </a:extLst>
              </p:cNvPr>
              <p:cNvSpPr/>
              <p:nvPr/>
            </p:nvSpPr>
            <p:spPr>
              <a:xfrm>
                <a:off x="8595360" y="5006340"/>
                <a:ext cx="3413760" cy="83820"/>
              </a:xfrm>
              <a:custGeom>
                <a:avLst/>
                <a:gdLst>
                  <a:gd name="csX0" fmla="*/ 0 w 3413760"/>
                  <a:gd name="csY0" fmla="*/ 0 h 83820"/>
                  <a:gd name="csX1" fmla="*/ 3413760 w 3413760"/>
                  <a:gd name="csY1" fmla="*/ 0 h 83820"/>
                  <a:gd name="csX2" fmla="*/ 3413760 w 3413760"/>
                  <a:gd name="csY2" fmla="*/ 83820 h 83820"/>
                  <a:gd name="csX3" fmla="*/ 0 w 3413760"/>
                  <a:gd name="csY3" fmla="*/ 83820 h 838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413760" h="83820">
                    <a:moveTo>
                      <a:pt x="0" y="0"/>
                    </a:moveTo>
                    <a:lnTo>
                      <a:pt x="3413760" y="0"/>
                    </a:lnTo>
                    <a:lnTo>
                      <a:pt x="3413760" y="83820"/>
                    </a:lnTo>
                    <a:lnTo>
                      <a:pt x="0" y="83820"/>
                    </a:lnTo>
                    <a:close/>
                  </a:path>
                </a:pathLst>
              </a:custGeom>
              <a:gradFill>
                <a:gsLst>
                  <a:gs pos="0">
                    <a:srgbClr val="FF7B00"/>
                  </a:gs>
                  <a:gs pos="50000">
                    <a:srgbClr val="F67000"/>
                  </a:gs>
                  <a:gs pos="100000">
                    <a:srgbClr val="EE6500"/>
                  </a:gs>
                </a:gsLst>
                <a:lin ang="0" scaled="1"/>
              </a:gradFill>
              <a:ln w="7620" cap="flat">
                <a:noFill/>
                <a:prstDash val="solid"/>
                <a:miter/>
              </a:ln>
            </p:spPr>
          </p:sp>
          <p:sp>
            <p:nvSpPr>
              <p:cNvPr id="114" name="文本框 113">
                <a:extLst>
                  <a:ext uri="{FF2B5EF4-FFF2-40B4-BE49-F238E27FC236}">
                    <a16:creationId xmlns:a16="http://schemas.microsoft.com/office/drawing/2014/main" id="{C838E4A5-C77A-D6DC-9D0D-E8875513C1B8}"/>
                  </a:ext>
                </a:extLst>
              </p:cNvPr>
              <p:cNvSpPr txBox="1"/>
              <p:nvPr/>
            </p:nvSpPr>
            <p:spPr>
              <a:xfrm>
                <a:off x="9239231" y="4781910"/>
                <a:ext cx="227818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600" b="1" spc="0" baseline="0" dirty="0">
                    <a:ln/>
                    <a:solidFill>
                      <a:srgbClr val="FFFFFF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7. 预期结论与研究贡献</a:t>
                </a:r>
              </a:p>
            </p:txBody>
          </p:sp>
          <p:sp>
            <p:nvSpPr>
              <p:cNvPr id="115" name="矩形: 圆角 114">
                <a:extLst>
                  <a:ext uri="{FF2B5EF4-FFF2-40B4-BE49-F238E27FC236}">
                    <a16:creationId xmlns:a16="http://schemas.microsoft.com/office/drawing/2014/main" id="{72BB1A7E-2115-168F-A9FF-22392E68C35E}"/>
                  </a:ext>
                </a:extLst>
              </p:cNvPr>
              <p:cNvSpPr/>
              <p:nvPr/>
            </p:nvSpPr>
            <p:spPr>
              <a:xfrm>
                <a:off x="8702040" y="5219700"/>
                <a:ext cx="3154680" cy="358140"/>
              </a:xfrm>
              <a:prstGeom prst="roundRect">
                <a:avLst>
                  <a:gd name="adj" fmla="val 8510"/>
                </a:avLst>
              </a:prstGeom>
              <a:solidFill>
                <a:srgbClr val="FFFDF9"/>
              </a:solidFill>
              <a:ln w="12192" cap="flat">
                <a:solidFill>
                  <a:srgbClr val="F06A00"/>
                </a:solidFill>
                <a:prstDash val="solid"/>
                <a:miter/>
              </a:ln>
            </p:spPr>
          </p:sp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4F62A71C-C83C-9CF5-11CB-7B4C4145507E}"/>
                  </a:ext>
                </a:extLst>
              </p:cNvPr>
              <p:cNvSpPr txBox="1"/>
              <p:nvPr/>
            </p:nvSpPr>
            <p:spPr>
              <a:xfrm>
                <a:off x="8722360" y="5265070"/>
                <a:ext cx="3167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b="1" spc="0" baseline="0" dirty="0">
                    <a:ln/>
                    <a:solidFill>
                      <a:srgbClr val="111111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• 将CPT-RL从静态参考点推广至动态参考点</a:t>
                </a:r>
              </a:p>
            </p:txBody>
          </p:sp>
          <p:sp>
            <p:nvSpPr>
              <p:cNvPr id="117" name="矩形: 圆角 116">
                <a:extLst>
                  <a:ext uri="{FF2B5EF4-FFF2-40B4-BE49-F238E27FC236}">
                    <a16:creationId xmlns:a16="http://schemas.microsoft.com/office/drawing/2014/main" id="{B1697D28-6A6A-6FFA-2E0F-7E787991873F}"/>
                  </a:ext>
                </a:extLst>
              </p:cNvPr>
              <p:cNvSpPr/>
              <p:nvPr/>
            </p:nvSpPr>
            <p:spPr>
              <a:xfrm>
                <a:off x="8702040" y="5699760"/>
                <a:ext cx="3154680" cy="358140"/>
              </a:xfrm>
              <a:prstGeom prst="roundRect">
                <a:avLst>
                  <a:gd name="adj" fmla="val 8510"/>
                </a:avLst>
              </a:prstGeom>
              <a:solidFill>
                <a:srgbClr val="FFFDF9"/>
              </a:solidFill>
              <a:ln w="12192" cap="flat">
                <a:solidFill>
                  <a:srgbClr val="F06A00"/>
                </a:solidFill>
                <a:prstDash val="solid"/>
                <a:miter/>
              </a:ln>
            </p:spPr>
          </p:sp>
          <p:sp>
            <p:nvSpPr>
              <p:cNvPr id="118" name="文本框 117">
                <a:extLst>
                  <a:ext uri="{FF2B5EF4-FFF2-40B4-BE49-F238E27FC236}">
                    <a16:creationId xmlns:a16="http://schemas.microsoft.com/office/drawing/2014/main" id="{596D7A2E-C3E4-70C2-91DE-4257C9EA9329}"/>
                  </a:ext>
                </a:extLst>
              </p:cNvPr>
              <p:cNvSpPr txBox="1"/>
              <p:nvPr/>
            </p:nvSpPr>
            <p:spPr>
              <a:xfrm>
                <a:off x="8722360" y="5745130"/>
                <a:ext cx="3068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b="1" spc="0" baseline="0" dirty="0">
                    <a:ln/>
                    <a:solidFill>
                      <a:srgbClr val="111111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• 在非平稳环境下实现稳定的在线策略优化</a:t>
                </a:r>
              </a:p>
            </p:txBody>
          </p:sp>
          <p:sp>
            <p:nvSpPr>
              <p:cNvPr id="119" name="矩形: 圆角 118">
                <a:extLst>
                  <a:ext uri="{FF2B5EF4-FFF2-40B4-BE49-F238E27FC236}">
                    <a16:creationId xmlns:a16="http://schemas.microsoft.com/office/drawing/2014/main" id="{16A4A54F-458D-683F-8F10-A613ABB03BFF}"/>
                  </a:ext>
                </a:extLst>
              </p:cNvPr>
              <p:cNvSpPr/>
              <p:nvPr/>
            </p:nvSpPr>
            <p:spPr>
              <a:xfrm>
                <a:off x="8702040" y="6179820"/>
                <a:ext cx="3154680" cy="358140"/>
              </a:xfrm>
              <a:prstGeom prst="roundRect">
                <a:avLst>
                  <a:gd name="adj" fmla="val 8510"/>
                </a:avLst>
              </a:prstGeom>
              <a:solidFill>
                <a:srgbClr val="FFFDF9"/>
              </a:solidFill>
              <a:ln w="12192" cap="flat">
                <a:solidFill>
                  <a:srgbClr val="F06A00"/>
                </a:solidFill>
                <a:prstDash val="solid"/>
                <a:miter/>
              </a:ln>
            </p:spPr>
          </p:sp>
          <p:sp>
            <p:nvSpPr>
              <p:cNvPr id="120" name="文本框 119">
                <a:extLst>
                  <a:ext uri="{FF2B5EF4-FFF2-40B4-BE49-F238E27FC236}">
                    <a16:creationId xmlns:a16="http://schemas.microsoft.com/office/drawing/2014/main" id="{1A88E7CF-C58C-7B2C-09E6-C10BE3FDB53B}"/>
                  </a:ext>
                </a:extLst>
              </p:cNvPr>
              <p:cNvSpPr txBox="1"/>
              <p:nvPr/>
            </p:nvSpPr>
            <p:spPr>
              <a:xfrm>
                <a:off x="8728710" y="6225190"/>
                <a:ext cx="322235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b="1" spc="0" baseline="0" dirty="0">
                    <a:ln/>
                    <a:solidFill>
                      <a:srgbClr val="111111"/>
                    </a:solidFill>
                    <a:latin typeface="微软雅黑"/>
                    <a:ea typeface="微软雅黑"/>
                    <a:sym typeface="微软雅黑"/>
                    <a:rtl val="0"/>
                  </a:rPr>
                  <a:t>• 为更贴近散户心理的智能投顾提供方法参考</a:t>
                </a:r>
              </a:p>
            </p:txBody>
          </p:sp>
        </p:grpSp>
        <p:sp>
          <p:nvSpPr>
            <p:cNvPr id="131" name="文本框 130">
              <a:extLst>
                <a:ext uri="{FF2B5EF4-FFF2-40B4-BE49-F238E27FC236}">
                  <a16:creationId xmlns:a16="http://schemas.microsoft.com/office/drawing/2014/main" id="{3752A11A-E943-1577-A86F-09EB75D0DE62}"/>
                </a:ext>
              </a:extLst>
            </p:cNvPr>
            <p:cNvSpPr txBox="1"/>
            <p:nvPr/>
          </p:nvSpPr>
          <p:spPr>
            <a:xfrm>
              <a:off x="226222" y="901700"/>
              <a:ext cx="438260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强化学习常以期望效用最大化为目标</a:t>
              </a:r>
              <a:endPara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人类风险决策具有参考点依赖、损失厌恶、概率权重扭曲</a:t>
              </a:r>
              <a:endPara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现有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CPT-RL</a:t>
              </a: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多假设平稳环境与静态参考点</a:t>
              </a:r>
              <a:endPara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本文核心问题：动态参考点下，策略能否在线跟踪时变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CPT</a:t>
              </a: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目标</a:t>
              </a:r>
            </a:p>
          </p:txBody>
        </p:sp>
        <p:sp>
          <p:nvSpPr>
            <p:cNvPr id="132" name="文本框 131">
              <a:extLst>
                <a:ext uri="{FF2B5EF4-FFF2-40B4-BE49-F238E27FC236}">
                  <a16:creationId xmlns:a16="http://schemas.microsoft.com/office/drawing/2014/main" id="{19FAB4B9-3F83-01E8-0170-96B56124B41F}"/>
                </a:ext>
              </a:extLst>
            </p:cNvPr>
            <p:cNvSpPr txBox="1"/>
            <p:nvPr/>
          </p:nvSpPr>
          <p:spPr>
            <a:xfrm>
              <a:off x="5954747" y="1252220"/>
              <a:ext cx="12334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动态局部遗憾是否有上界</a:t>
              </a:r>
            </a:p>
          </p:txBody>
        </p:sp>
        <p:sp>
          <p:nvSpPr>
            <p:cNvPr id="133" name="文本框 132">
              <a:extLst>
                <a:ext uri="{FF2B5EF4-FFF2-40B4-BE49-F238E27FC236}">
                  <a16:creationId xmlns:a16="http://schemas.microsoft.com/office/drawing/2014/main" id="{73B5F528-8A85-61AC-869B-DCA43B03EBF1}"/>
                </a:ext>
              </a:extLst>
            </p:cNvPr>
            <p:cNvSpPr txBox="1"/>
            <p:nvPr/>
          </p:nvSpPr>
          <p:spPr>
            <a:xfrm>
              <a:off x="7913372" y="1252220"/>
              <a:ext cx="16560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能否复现路径依赖、处置效应等人类行为</a:t>
              </a:r>
            </a:p>
          </p:txBody>
        </p:sp>
        <p:sp>
          <p:nvSpPr>
            <p:cNvPr id="134" name="文本框 133">
              <a:extLst>
                <a:ext uri="{FF2B5EF4-FFF2-40B4-BE49-F238E27FC236}">
                  <a16:creationId xmlns:a16="http://schemas.microsoft.com/office/drawing/2014/main" id="{237D1C05-5B24-8666-CE4E-E49F50CC445F}"/>
                </a:ext>
              </a:extLst>
            </p:cNvPr>
            <p:cNvSpPr txBox="1"/>
            <p:nvPr/>
          </p:nvSpPr>
          <p:spPr>
            <a:xfrm>
              <a:off x="9946478" y="1252219"/>
              <a:ext cx="20193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是否更容易被散户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Agent</a:t>
              </a: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采纳并获得更高满意度</a:t>
              </a:r>
            </a:p>
          </p:txBody>
        </p:sp>
        <p:sp>
          <p:nvSpPr>
            <p:cNvPr id="135" name="箭头: 右 134">
              <a:extLst>
                <a:ext uri="{FF2B5EF4-FFF2-40B4-BE49-F238E27FC236}">
                  <a16:creationId xmlns:a16="http://schemas.microsoft.com/office/drawing/2014/main" id="{31DC5727-CFBA-D2E1-456E-62E193570080}"/>
                </a:ext>
              </a:extLst>
            </p:cNvPr>
            <p:cNvSpPr/>
            <p:nvPr/>
          </p:nvSpPr>
          <p:spPr>
            <a:xfrm>
              <a:off x="4646932" y="1104900"/>
              <a:ext cx="770888" cy="232411"/>
            </a:xfrm>
            <a:prstGeom prst="rightArrow">
              <a:avLst/>
            </a:prstGeom>
            <a:solidFill>
              <a:srgbClr val="0B428D"/>
            </a:solidFill>
            <a:ln>
              <a:solidFill>
                <a:srgbClr val="0B408B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箭头: 右 135">
              <a:extLst>
                <a:ext uri="{FF2B5EF4-FFF2-40B4-BE49-F238E27FC236}">
                  <a16:creationId xmlns:a16="http://schemas.microsoft.com/office/drawing/2014/main" id="{97D2FC2D-DE75-CA27-D01E-4BF0BBDE06C1}"/>
                </a:ext>
              </a:extLst>
            </p:cNvPr>
            <p:cNvSpPr/>
            <p:nvPr/>
          </p:nvSpPr>
          <p:spPr>
            <a:xfrm rot="5400000">
              <a:off x="8623777" y="1911827"/>
              <a:ext cx="236537" cy="156209"/>
            </a:xfrm>
            <a:prstGeom prst="rightArrow">
              <a:avLst/>
            </a:prstGeom>
            <a:solidFill>
              <a:srgbClr val="0B428D"/>
            </a:solidFill>
            <a:ln>
              <a:solidFill>
                <a:srgbClr val="0B408B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箭头: 右 136">
              <a:extLst>
                <a:ext uri="{FF2B5EF4-FFF2-40B4-BE49-F238E27FC236}">
                  <a16:creationId xmlns:a16="http://schemas.microsoft.com/office/drawing/2014/main" id="{AE576FC1-64D8-B59F-FC2B-D7D332EEEC85}"/>
                </a:ext>
              </a:extLst>
            </p:cNvPr>
            <p:cNvSpPr/>
            <p:nvPr/>
          </p:nvSpPr>
          <p:spPr>
            <a:xfrm>
              <a:off x="1295400" y="2676356"/>
              <a:ext cx="228600" cy="113834"/>
            </a:xfrm>
            <a:prstGeom prst="rightArrow">
              <a:avLst/>
            </a:prstGeom>
            <a:solidFill>
              <a:srgbClr val="0A8887"/>
            </a:solidFill>
            <a:ln>
              <a:solidFill>
                <a:srgbClr val="0A888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" name="箭头: 右 137">
              <a:extLst>
                <a:ext uri="{FF2B5EF4-FFF2-40B4-BE49-F238E27FC236}">
                  <a16:creationId xmlns:a16="http://schemas.microsoft.com/office/drawing/2014/main" id="{230225B6-EE17-B008-E5A3-7AD8A01173B3}"/>
                </a:ext>
              </a:extLst>
            </p:cNvPr>
            <p:cNvSpPr/>
            <p:nvPr/>
          </p:nvSpPr>
          <p:spPr>
            <a:xfrm>
              <a:off x="2575560" y="2676356"/>
              <a:ext cx="228600" cy="113834"/>
            </a:xfrm>
            <a:prstGeom prst="rightArrow">
              <a:avLst/>
            </a:prstGeom>
            <a:solidFill>
              <a:srgbClr val="0A8887"/>
            </a:solidFill>
            <a:ln>
              <a:solidFill>
                <a:srgbClr val="0A888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9" name="箭头: 右 138">
              <a:extLst>
                <a:ext uri="{FF2B5EF4-FFF2-40B4-BE49-F238E27FC236}">
                  <a16:creationId xmlns:a16="http://schemas.microsoft.com/office/drawing/2014/main" id="{26C4574B-BCC9-A8B5-E872-0BF973C455EB}"/>
                </a:ext>
              </a:extLst>
            </p:cNvPr>
            <p:cNvSpPr/>
            <p:nvPr/>
          </p:nvSpPr>
          <p:spPr>
            <a:xfrm>
              <a:off x="3855720" y="2676356"/>
              <a:ext cx="228600" cy="113834"/>
            </a:xfrm>
            <a:prstGeom prst="rightArrow">
              <a:avLst/>
            </a:prstGeom>
            <a:solidFill>
              <a:srgbClr val="0A8887"/>
            </a:solidFill>
            <a:ln>
              <a:solidFill>
                <a:srgbClr val="0A888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0" name="箭头: 右 139">
              <a:extLst>
                <a:ext uri="{FF2B5EF4-FFF2-40B4-BE49-F238E27FC236}">
                  <a16:creationId xmlns:a16="http://schemas.microsoft.com/office/drawing/2014/main" id="{EE8FEF4D-BE92-0A2F-C851-0600C0837FB0}"/>
                </a:ext>
              </a:extLst>
            </p:cNvPr>
            <p:cNvSpPr/>
            <p:nvPr/>
          </p:nvSpPr>
          <p:spPr>
            <a:xfrm>
              <a:off x="5332732" y="2716996"/>
              <a:ext cx="424976" cy="132482"/>
            </a:xfrm>
            <a:prstGeom prst="rightArrow">
              <a:avLst/>
            </a:prstGeom>
            <a:solidFill>
              <a:srgbClr val="0B428D"/>
            </a:solidFill>
            <a:ln>
              <a:solidFill>
                <a:srgbClr val="0B408B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1" name="文本框 140">
              <a:extLst>
                <a:ext uri="{FF2B5EF4-FFF2-40B4-BE49-F238E27FC236}">
                  <a16:creationId xmlns:a16="http://schemas.microsoft.com/office/drawing/2014/main" id="{A79BE0C0-B13E-6705-6101-BC30B5E0536C}"/>
                </a:ext>
              </a:extLst>
            </p:cNvPr>
            <p:cNvSpPr txBox="1"/>
            <p:nvPr/>
          </p:nvSpPr>
          <p:spPr>
            <a:xfrm>
              <a:off x="5987415" y="2716996"/>
              <a:ext cx="2676526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输入：股票因子、上一期投资组合、参考点、策略参数</a:t>
              </a:r>
              <a:endParaRPr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输出：当期投资组合</a:t>
              </a:r>
            </a:p>
          </p:txBody>
        </p: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34309817-9FC7-5613-FA30-7314D07EAF82}"/>
                </a:ext>
              </a:extLst>
            </p:cNvPr>
            <p:cNvSpPr txBox="1"/>
            <p:nvPr/>
          </p:nvSpPr>
          <p:spPr>
            <a:xfrm>
              <a:off x="8893648" y="2733273"/>
              <a:ext cx="28803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CPT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策略梯度估计</a:t>
              </a:r>
              <a:endParaRPr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归一化梯度更新策略参数</a:t>
              </a:r>
            </a:p>
          </p:txBody>
        </p:sp>
        <p:sp>
          <p:nvSpPr>
            <p:cNvPr id="143" name="箭头: 右 142">
              <a:extLst>
                <a:ext uri="{FF2B5EF4-FFF2-40B4-BE49-F238E27FC236}">
                  <a16:creationId xmlns:a16="http://schemas.microsoft.com/office/drawing/2014/main" id="{D6BD4192-B802-BBB6-C627-0D746F7A2521}"/>
                </a:ext>
              </a:extLst>
            </p:cNvPr>
            <p:cNvSpPr/>
            <p:nvPr/>
          </p:nvSpPr>
          <p:spPr>
            <a:xfrm rot="5400000">
              <a:off x="2390508" y="3500419"/>
              <a:ext cx="243771" cy="126333"/>
            </a:xfrm>
            <a:prstGeom prst="rightArrow">
              <a:avLst/>
            </a:prstGeom>
            <a:solidFill>
              <a:srgbClr val="0B428D"/>
            </a:solidFill>
            <a:ln>
              <a:solidFill>
                <a:srgbClr val="0B408B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5" name="连接符: 肘形 144">
              <a:extLst>
                <a:ext uri="{FF2B5EF4-FFF2-40B4-BE49-F238E27FC236}">
                  <a16:creationId xmlns:a16="http://schemas.microsoft.com/office/drawing/2014/main" id="{8B5F3E13-6F5B-6626-4871-CAA485289EC0}"/>
                </a:ext>
              </a:extLst>
            </p:cNvPr>
            <p:cNvCxnSpPr>
              <a:cxnSpLocks/>
              <a:stCxn id="56" idx="2"/>
            </p:cNvCxnSpPr>
            <p:nvPr/>
          </p:nvCxnSpPr>
          <p:spPr>
            <a:xfrm rot="5400000">
              <a:off x="6834864" y="2224048"/>
              <a:ext cx="547925" cy="3552188"/>
            </a:xfrm>
            <a:prstGeom prst="bentConnector2">
              <a:avLst/>
            </a:prstGeom>
            <a:ln w="76200">
              <a:solidFill>
                <a:srgbClr val="0B408B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文本框 148">
              <a:extLst>
                <a:ext uri="{FF2B5EF4-FFF2-40B4-BE49-F238E27FC236}">
                  <a16:creationId xmlns:a16="http://schemas.microsoft.com/office/drawing/2014/main" id="{B3156CE8-A1AD-C8BE-4BCF-892BB1BFBAE5}"/>
                </a:ext>
              </a:extLst>
            </p:cNvPr>
            <p:cNvSpPr txBox="1"/>
            <p:nvPr/>
          </p:nvSpPr>
          <p:spPr>
            <a:xfrm>
              <a:off x="191436" y="4242910"/>
              <a:ext cx="11865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spc="0" baseline="0" dirty="0">
                  <a:ln/>
                  <a:solidFill>
                    <a:srgbClr val="111111"/>
                  </a:solidFill>
                  <a:latin typeface="微软雅黑"/>
                  <a:ea typeface="微软雅黑"/>
                  <a:sym typeface="微软雅黑"/>
                  <a:rtl val="0"/>
                </a:rPr>
                <a:t>CPT</a:t>
              </a:r>
              <a:r>
                <a:rPr lang="zh-CN" altLang="en-US" sz="1200" b="1" spc="0" baseline="0" dirty="0">
                  <a:ln/>
                  <a:solidFill>
                    <a:srgbClr val="111111"/>
                  </a:solidFill>
                  <a:latin typeface="微软雅黑"/>
                  <a:ea typeface="微软雅黑"/>
                  <a:sym typeface="微软雅黑"/>
                  <a:rtl val="0"/>
                </a:rPr>
                <a:t>策略梯度估计误差可控 </a:t>
              </a:r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4694B259-270D-194B-BF28-5399BCED03C0}"/>
                </a:ext>
              </a:extLst>
            </p:cNvPr>
            <p:cNvSpPr txBox="1"/>
            <p:nvPr/>
          </p:nvSpPr>
          <p:spPr>
            <a:xfrm>
              <a:off x="1409700" y="4237670"/>
              <a:ext cx="14792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spc="0" baseline="0" dirty="0">
                  <a:ln/>
                  <a:solidFill>
                    <a:srgbClr val="111111"/>
                  </a:solidFill>
                  <a:latin typeface="微软雅黑"/>
                  <a:ea typeface="微软雅黑"/>
                  <a:sym typeface="微软雅黑"/>
                  <a:rtl val="0"/>
                </a:rPr>
                <a:t>动态参考点下一阶驻点集合漂移可控 </a:t>
              </a:r>
            </a:p>
          </p:txBody>
        </p:sp>
        <p:sp>
          <p:nvSpPr>
            <p:cNvPr id="151" name="文本框 150">
              <a:extLst>
                <a:ext uri="{FF2B5EF4-FFF2-40B4-BE49-F238E27FC236}">
                  <a16:creationId xmlns:a16="http://schemas.microsoft.com/office/drawing/2014/main" id="{58749E27-0AC2-68D3-ACCE-95708FCB201A}"/>
                </a:ext>
              </a:extLst>
            </p:cNvPr>
            <p:cNvSpPr txBox="1"/>
            <p:nvPr/>
          </p:nvSpPr>
          <p:spPr>
            <a:xfrm>
              <a:off x="2888948" y="4237669"/>
              <a:ext cx="13287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spc="0" baseline="0" dirty="0">
                  <a:ln/>
                  <a:solidFill>
                    <a:srgbClr val="111111"/>
                  </a:solidFill>
                  <a:latin typeface="微软雅黑"/>
                  <a:ea typeface="微软雅黑"/>
                  <a:sym typeface="微软雅黑"/>
                  <a:rtl val="0"/>
                </a:rPr>
                <a:t>DRCPT-PG</a:t>
              </a:r>
              <a:r>
                <a:rPr lang="zh-CN" altLang="en-US" sz="1200" b="1" spc="0" baseline="0" dirty="0">
                  <a:ln/>
                  <a:solidFill>
                    <a:srgbClr val="111111"/>
                  </a:solidFill>
                  <a:latin typeface="微软雅黑"/>
                  <a:ea typeface="微软雅黑"/>
                  <a:sym typeface="微软雅黑"/>
                  <a:rtl val="0"/>
                </a:rPr>
                <a:t>动态局部遗憾上界 </a:t>
              </a:r>
            </a:p>
          </p:txBody>
        </p:sp>
        <p:sp>
          <p:nvSpPr>
            <p:cNvPr id="152" name="文本框 151">
              <a:extLst>
                <a:ext uri="{FF2B5EF4-FFF2-40B4-BE49-F238E27FC236}">
                  <a16:creationId xmlns:a16="http://schemas.microsoft.com/office/drawing/2014/main" id="{4F9FC5B0-70A5-520A-863E-842CD2408F59}"/>
                </a:ext>
              </a:extLst>
            </p:cNvPr>
            <p:cNvSpPr txBox="1"/>
            <p:nvPr/>
          </p:nvSpPr>
          <p:spPr>
            <a:xfrm>
              <a:off x="4167990" y="4216042"/>
              <a:ext cx="10707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spc="0" baseline="0" dirty="0">
                  <a:ln/>
                  <a:solidFill>
                    <a:srgbClr val="111111"/>
                  </a:solidFill>
                  <a:latin typeface="微软雅黑"/>
                  <a:ea typeface="微软雅黑"/>
                  <a:sym typeface="微软雅黑"/>
                  <a:rtl val="0"/>
                </a:rPr>
                <a:t>平稳极限下的收敛性</a:t>
              </a:r>
            </a:p>
          </p:txBody>
        </p:sp>
        <p:sp>
          <p:nvSpPr>
            <p:cNvPr id="153" name="箭头: 右 152">
              <a:extLst>
                <a:ext uri="{FF2B5EF4-FFF2-40B4-BE49-F238E27FC236}">
                  <a16:creationId xmlns:a16="http://schemas.microsoft.com/office/drawing/2014/main" id="{6B3EA0C8-0315-C6C5-E996-37EAB79835E4}"/>
                </a:ext>
              </a:extLst>
            </p:cNvPr>
            <p:cNvSpPr/>
            <p:nvPr/>
          </p:nvSpPr>
          <p:spPr>
            <a:xfrm rot="5400000">
              <a:off x="3725545" y="4691713"/>
              <a:ext cx="144780" cy="214630"/>
            </a:xfrm>
            <a:prstGeom prst="rightArrow">
              <a:avLst>
                <a:gd name="adj1" fmla="val 50000"/>
                <a:gd name="adj2" fmla="val 40609"/>
              </a:avLst>
            </a:prstGeom>
            <a:solidFill>
              <a:srgbClr val="0B428D"/>
            </a:solidFill>
            <a:ln>
              <a:solidFill>
                <a:srgbClr val="0B408B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62" name="连接符: 肘形 161">
              <a:extLst>
                <a:ext uri="{FF2B5EF4-FFF2-40B4-BE49-F238E27FC236}">
                  <a16:creationId xmlns:a16="http://schemas.microsoft.com/office/drawing/2014/main" id="{1E669485-378A-1E60-676B-F605A0C0A849}"/>
                </a:ext>
              </a:extLst>
            </p:cNvPr>
            <p:cNvCxnSpPr>
              <a:cxnSpLocks/>
              <a:stCxn id="96" idx="2"/>
              <a:endCxn id="104" idx="2"/>
            </p:cNvCxnSpPr>
            <p:nvPr/>
          </p:nvCxnSpPr>
          <p:spPr>
            <a:xfrm rot="16200000" flipH="1">
              <a:off x="3901440" y="4602480"/>
              <a:ext cx="12700" cy="3810000"/>
            </a:xfrm>
            <a:prstGeom prst="bentConnector3">
              <a:avLst>
                <a:gd name="adj1" fmla="val 2150000"/>
              </a:avLst>
            </a:prstGeom>
            <a:ln w="57150">
              <a:solidFill>
                <a:srgbClr val="F26A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文本框 165">
              <a:extLst>
                <a:ext uri="{FF2B5EF4-FFF2-40B4-BE49-F238E27FC236}">
                  <a16:creationId xmlns:a16="http://schemas.microsoft.com/office/drawing/2014/main" id="{BF57BD56-F15E-5C5C-1C39-BB7B57C06917}"/>
                </a:ext>
              </a:extLst>
            </p:cNvPr>
            <p:cNvSpPr txBox="1"/>
            <p:nvPr/>
          </p:nvSpPr>
          <p:spPr>
            <a:xfrm>
              <a:off x="4217670" y="5440064"/>
              <a:ext cx="300082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zh-CN" altLang="en-US" sz="1200" b="1" spc="0" baseline="0" dirty="0">
                  <a:ln/>
                  <a:solidFill>
                    <a:srgbClr val="111111"/>
                  </a:solidFill>
                  <a:latin typeface="微软雅黑"/>
                  <a:ea typeface="微软雅黑"/>
                  <a:sym typeface="微软雅黑"/>
                  <a:rtl val="0"/>
                </a:rPr>
                <a:t>基于雪球网开源数据模拟散户</a:t>
              </a:r>
              <a:r>
                <a:rPr lang="en-US" altLang="zh-CN" sz="1200" b="1" dirty="0">
                  <a:ln/>
                  <a:solidFill>
                    <a:srgbClr val="111111"/>
                  </a:solidFill>
                  <a:latin typeface="微软雅黑"/>
                  <a:ea typeface="微软雅黑"/>
                  <a:sym typeface="微软雅黑"/>
                  <a:rtl val="0"/>
                </a:rPr>
                <a:t>Agent</a:t>
              </a:r>
              <a:endParaRPr lang="en-US" altLang="zh-CN" sz="1200" b="1" spc="0" baseline="0" dirty="0">
                <a:ln/>
                <a:solidFill>
                  <a:srgbClr val="111111"/>
                </a:solidFill>
                <a:latin typeface="微软雅黑"/>
                <a:ea typeface="微软雅黑"/>
                <a:sym typeface="微软雅黑"/>
                <a:rtl val="0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zh-CN" altLang="en-US" sz="1200" b="1" dirty="0">
                  <a:ln/>
                  <a:solidFill>
                    <a:srgbClr val="111111"/>
                  </a:solidFill>
                  <a:latin typeface="微软雅黑"/>
                  <a:ea typeface="微软雅黑"/>
                  <a:sym typeface="微软雅黑"/>
                  <a:rtl val="0"/>
                </a:rPr>
                <a:t>五类投资顾问</a:t>
              </a:r>
              <a:r>
                <a:rPr lang="en-US" altLang="zh-CN" sz="1200" b="1" dirty="0">
                  <a:ln/>
                  <a:solidFill>
                    <a:srgbClr val="111111"/>
                  </a:solidFill>
                  <a:latin typeface="微软雅黑"/>
                  <a:ea typeface="微软雅黑"/>
                  <a:sym typeface="微软雅黑"/>
                  <a:rtl val="0"/>
                </a:rPr>
                <a:t>Agent</a:t>
              </a:r>
              <a:r>
                <a:rPr lang="zh-CN" altLang="en-US" sz="1200" b="1" dirty="0">
                  <a:ln/>
                  <a:solidFill>
                    <a:srgbClr val="111111"/>
                  </a:solidFill>
                  <a:latin typeface="微软雅黑"/>
                  <a:ea typeface="微软雅黑"/>
                  <a:sym typeface="微软雅黑"/>
                  <a:rtl val="0"/>
                </a:rPr>
                <a:t>输出建议</a:t>
              </a:r>
              <a:endParaRPr lang="en-US" altLang="zh-CN" sz="1200" b="1" dirty="0">
                <a:ln/>
                <a:solidFill>
                  <a:srgbClr val="111111"/>
                </a:solidFill>
                <a:latin typeface="微软雅黑"/>
                <a:ea typeface="微软雅黑"/>
                <a:sym typeface="微软雅黑"/>
                <a:rtl val="0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zh-CN" altLang="en-US" sz="1200" b="1" spc="0" baseline="0" dirty="0">
                  <a:ln/>
                  <a:solidFill>
                    <a:srgbClr val="111111"/>
                  </a:solidFill>
                  <a:latin typeface="微软雅黑"/>
                  <a:ea typeface="微软雅黑"/>
                  <a:sym typeface="微软雅黑"/>
                  <a:rtl val="0"/>
                </a:rPr>
                <a:t>散户</a:t>
              </a:r>
              <a:r>
                <a:rPr lang="en-US" altLang="zh-CN" sz="1200" b="1" spc="0" baseline="0" dirty="0">
                  <a:ln/>
                  <a:solidFill>
                    <a:srgbClr val="111111"/>
                  </a:solidFill>
                  <a:latin typeface="微软雅黑"/>
                  <a:ea typeface="微软雅黑"/>
                  <a:sym typeface="微软雅黑"/>
                  <a:rtl val="0"/>
                </a:rPr>
                <a:t>Agent</a:t>
              </a:r>
              <a:r>
                <a:rPr lang="zh-CN" altLang="en-US" sz="1200" b="1" spc="0" baseline="0" dirty="0">
                  <a:ln/>
                  <a:solidFill>
                    <a:srgbClr val="111111"/>
                  </a:solidFill>
                  <a:latin typeface="微软雅黑"/>
                  <a:ea typeface="微软雅黑"/>
                  <a:sym typeface="微软雅黑"/>
                  <a:rtl val="0"/>
                </a:rPr>
                <a:t>打分并选择建议</a:t>
              </a:r>
              <a:endParaRPr lang="en-US" altLang="zh-CN" sz="1200" b="1" spc="0" baseline="0" dirty="0">
                <a:ln/>
                <a:solidFill>
                  <a:srgbClr val="111111"/>
                </a:solidFill>
                <a:latin typeface="微软雅黑"/>
                <a:ea typeface="微软雅黑"/>
                <a:sym typeface="微软雅黑"/>
                <a:rtl val="0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zh-CN" altLang="en-US" sz="1200" b="1" dirty="0">
                  <a:ln/>
                  <a:solidFill>
                    <a:srgbClr val="111111"/>
                  </a:solidFill>
                  <a:latin typeface="微软雅黑"/>
                  <a:ea typeface="微软雅黑"/>
                  <a:sym typeface="微软雅黑"/>
                  <a:rtl val="0"/>
                </a:rPr>
                <a:t>指标：采纳率、满意度评分等</a:t>
              </a:r>
              <a:endParaRPr lang="zh-CN" altLang="en-US" sz="1200" b="1" spc="0" baseline="0" dirty="0">
                <a:ln/>
                <a:solidFill>
                  <a:srgbClr val="111111"/>
                </a:solidFill>
                <a:latin typeface="微软雅黑"/>
                <a:ea typeface="微软雅黑"/>
                <a:sym typeface="微软雅黑"/>
                <a:rtl val="0"/>
              </a:endParaRPr>
            </a:p>
          </p:txBody>
        </p:sp>
        <p:sp>
          <p:nvSpPr>
            <p:cNvPr id="170" name="箭头: 右 169">
              <a:extLst>
                <a:ext uri="{FF2B5EF4-FFF2-40B4-BE49-F238E27FC236}">
                  <a16:creationId xmlns:a16="http://schemas.microsoft.com/office/drawing/2014/main" id="{1E0DA4C2-9FE0-65D4-106C-A5A9BFF91596}"/>
                </a:ext>
              </a:extLst>
            </p:cNvPr>
            <p:cNvSpPr/>
            <p:nvPr/>
          </p:nvSpPr>
          <p:spPr>
            <a:xfrm>
              <a:off x="7811772" y="5524167"/>
              <a:ext cx="754378" cy="163226"/>
            </a:xfrm>
            <a:prstGeom prst="rightArrow">
              <a:avLst/>
            </a:prstGeom>
            <a:solidFill>
              <a:srgbClr val="FE7A00"/>
            </a:solidFill>
            <a:ln>
              <a:solidFill>
                <a:srgbClr val="FD79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2" name="箭头: 右 171">
              <a:extLst>
                <a:ext uri="{FF2B5EF4-FFF2-40B4-BE49-F238E27FC236}">
                  <a16:creationId xmlns:a16="http://schemas.microsoft.com/office/drawing/2014/main" id="{DDAC2B1C-5978-6FE0-5E4A-2EA17B104479}"/>
                </a:ext>
              </a:extLst>
            </p:cNvPr>
            <p:cNvSpPr/>
            <p:nvPr/>
          </p:nvSpPr>
          <p:spPr>
            <a:xfrm>
              <a:off x="7811772" y="5947683"/>
              <a:ext cx="754378" cy="163226"/>
            </a:xfrm>
            <a:prstGeom prst="rightArrow">
              <a:avLst/>
            </a:prstGeom>
            <a:solidFill>
              <a:srgbClr val="FE7A00"/>
            </a:solidFill>
            <a:ln>
              <a:solidFill>
                <a:srgbClr val="FD79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56408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380</Words>
  <Application>Microsoft Office PowerPoint</Application>
  <PresentationFormat>宽屏</PresentationFormat>
  <Paragraphs>51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微软雅黑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祉含 董</dc:creator>
  <cp:lastModifiedBy>祉含 董</cp:lastModifiedBy>
  <cp:revision>3</cp:revision>
  <dcterms:created xsi:type="dcterms:W3CDTF">2026-06-04T04:31:12Z</dcterms:created>
  <dcterms:modified xsi:type="dcterms:W3CDTF">2026-06-04T10:31:55Z</dcterms:modified>
</cp:coreProperties>
</file>