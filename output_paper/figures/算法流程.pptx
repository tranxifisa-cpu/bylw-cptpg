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40" autoAdjust="0"/>
    <p:restoredTop sz="94660"/>
  </p:normalViewPr>
  <p:slideViewPr>
    <p:cSldViewPr snapToGrid="0">
      <p:cViewPr varScale="1">
        <p:scale>
          <a:sx n="68" d="100"/>
          <a:sy n="68" d="100"/>
        </p:scale>
        <p:origin x="3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1F6C27-23A0-1DEE-BD7D-5657F19D08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FE8219C-C1AA-11FC-2BD9-D805A2E25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444264-A552-133F-6497-89DB359DB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A3DDC-B1F2-4CB2-BB02-1D336818C9FF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84847E-F0A9-0FD4-FAB1-32AA81BC4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299C76-E812-B525-679D-3DBEE3B94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DBCE7-5946-472C-B64E-2A924D6A4C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695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E0DB42-C3AF-5E5D-72BF-B53C792D1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F37EBF-7126-6E16-6958-C7CC010E9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8549EF-9E9F-0631-3D18-B4359D6EB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A3DDC-B1F2-4CB2-BB02-1D336818C9FF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05FE8E-9A13-0C36-D8D2-0C2AAFB5F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EE01FB-299F-CB4C-A2BA-36ED0F86F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DBCE7-5946-472C-B64E-2A924D6A4C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5260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8C825B-1A2E-A4A8-AAC0-DAE083850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7D3066-7900-C4AF-BCD0-D2EBA777C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447E41-E21D-CE0D-A425-AB784037D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A3DDC-B1F2-4CB2-BB02-1D336818C9FF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0DED77-EBFB-3098-893E-14B8F93BD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CC2438-9527-2D46-CD8D-5705192CB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DBCE7-5946-472C-B64E-2A924D6A4C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0502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C763E4-39AA-254B-E910-7F2AA3141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4E0334-A2A2-B789-72A4-558591C987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EA8B16B-7963-1E67-06B5-851F4746D1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D4A984-2D63-8BA3-A61D-399F97FED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A3DDC-B1F2-4CB2-BB02-1D336818C9FF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1315C8-5BC0-2197-8097-026F25E13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019E721-2CA4-2965-C205-8D62429CA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DBCE7-5946-472C-B64E-2A924D6A4C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1468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1224A6-4830-3417-0E3B-A7300B27E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D587DB-862C-29BB-614F-520837E05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827B3D-A857-1611-F837-A944594FE0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16A8453-3433-CD42-9F49-7E55B1D192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B2FBF35-9768-EA10-645E-D51F6C08C9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1BB9076-CA89-6919-4A03-0488C4625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A3DDC-B1F2-4CB2-BB02-1D336818C9FF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ABD5509-272B-EBFB-0436-7186259AB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3471F3E-622D-FC29-88FE-7B7670B60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DBCE7-5946-472C-B64E-2A924D6A4C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054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4D72D6-006F-3707-35C1-314C40BF5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B6A0D38-9E9C-69DE-E3D1-618BCB975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A3DDC-B1F2-4CB2-BB02-1D336818C9FF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E4CAE9-8035-E742-3F85-DEF453B58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DE79C10-A1C9-3388-F008-796045654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DBCE7-5946-472C-B64E-2A924D6A4C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179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3437F8E-8B48-2F6B-11F8-39A95B3B5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A3DDC-B1F2-4CB2-BB02-1D336818C9FF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D937CE-CB04-3654-83F3-7F87B2186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33DF51-25A6-D658-8C92-4C0CA5553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DBCE7-5946-472C-B64E-2A924D6A4C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47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489818-81AB-40A8-B68E-1E0363A0A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119D57-39E8-442F-76BD-A42CE4A9F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A8C2FE2-B801-B2BF-8958-A1CB93E699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4FE848-E4A8-2EB3-C651-5A64972AC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A3DDC-B1F2-4CB2-BB02-1D336818C9FF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E28DB0-CF12-BB90-7A38-FB233320F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BE3629-05A9-D8DC-520F-76267F06B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DBCE7-5946-472C-B64E-2A924D6A4C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3050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27BE88-57DA-5C03-FF03-A02E39A24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63E6BBD-F3FF-EEF6-6C54-18B861B38B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329BCB-A598-19C5-80B2-8976E611C0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FD0DED-7974-0059-911A-29A09714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A3DDC-B1F2-4CB2-BB02-1D336818C9FF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F1C4CF-99F7-ECE7-D9A0-009F55393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A4A324-576E-C3D4-3768-149169D62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DBCE7-5946-472C-B64E-2A924D6A4C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875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0E7355-5698-05AC-4536-F094BF0B0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577A5A-4A6D-428B-1F7A-E93D78047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2392F7-D179-FECC-3011-285DA0972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A3DDC-B1F2-4CB2-BB02-1D336818C9FF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9BD74D-B218-2895-DDBF-7B596B72E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E41A72-4AD8-111B-AEB0-4A62EAFB7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DBCE7-5946-472C-B64E-2A924D6A4C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676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99AFA5B-A839-AA2C-88B2-1A79314198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9BAED65-0CB8-8166-1934-CB9677C5F7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F7AA4A-2F4A-E43D-FBCF-E7E05E1AD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A3DDC-B1F2-4CB2-BB02-1D336818C9FF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9820BE-3F61-734B-1D0E-79E950FED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567E16-645B-4627-DEB9-AF955B250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DBCE7-5946-472C-B64E-2A924D6A4C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928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94B4084-1323-B762-27AA-1543C1665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023C11-E7B0-9989-80BB-6523E987C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1D8C4A-BA11-F624-47F8-2AF63E2CEC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7A3DDC-B1F2-4CB2-BB02-1D336818C9FF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3E3061-EA4F-E1CE-3AE6-C38B0311D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9792FC-49CB-80FE-BD2E-226525D4E9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FDBCE7-5946-472C-B64E-2A924D6A4C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640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组合 98">
            <a:extLst>
              <a:ext uri="{FF2B5EF4-FFF2-40B4-BE49-F238E27FC236}">
                <a16:creationId xmlns:a16="http://schemas.microsoft.com/office/drawing/2014/main" id="{D12CA66A-02F0-F5BF-328E-A4E019B19327}"/>
              </a:ext>
            </a:extLst>
          </p:cNvPr>
          <p:cNvGrpSpPr/>
          <p:nvPr/>
        </p:nvGrpSpPr>
        <p:grpSpPr>
          <a:xfrm>
            <a:off x="0" y="0"/>
            <a:ext cx="12392417" cy="6858000"/>
            <a:chOff x="82538" y="39318"/>
            <a:chExt cx="12392417" cy="685800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486CE25-120D-1654-36C8-781A0C2B6108}"/>
                </a:ext>
              </a:extLst>
            </p:cNvPr>
            <p:cNvSpPr/>
            <p:nvPr/>
          </p:nvSpPr>
          <p:spPr>
            <a:xfrm>
              <a:off x="82538" y="39318"/>
              <a:ext cx="12192000" cy="6858000"/>
            </a:xfrm>
            <a:prstGeom prst="rect">
              <a:avLst/>
            </a:prstGeom>
            <a:solidFill>
              <a:srgbClr val="FFFFFF"/>
            </a:solidFill>
            <a:ln w="7620" cap="flat">
              <a:noFill/>
              <a:prstDash val="solid"/>
              <a:miter/>
            </a:ln>
          </p:spPr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E6E6533D-AE6E-B39B-A3E5-68D01BE6DF28}"/>
                </a:ext>
              </a:extLst>
            </p:cNvPr>
            <p:cNvSpPr/>
            <p:nvPr/>
          </p:nvSpPr>
          <p:spPr>
            <a:xfrm>
              <a:off x="778756" y="696022"/>
              <a:ext cx="11163300" cy="487680"/>
            </a:xfrm>
            <a:prstGeom prst="roundRect">
              <a:avLst>
                <a:gd name="adj" fmla="val 15625"/>
              </a:avLst>
            </a:prstGeom>
            <a:gradFill>
              <a:gsLst>
                <a:gs pos="0">
                  <a:srgbClr val="071F55"/>
                </a:gs>
                <a:gs pos="55000">
                  <a:srgbClr val="082965"/>
                </a:gs>
                <a:gs pos="100000">
                  <a:srgbClr val="061B4C"/>
                </a:gs>
              </a:gsLst>
              <a:lin ang="0" scaled="1"/>
            </a:gradFill>
            <a:ln w="7620" cap="flat">
              <a:noFill/>
              <a:prstDash val="solid"/>
              <a:miter/>
            </a:ln>
          </p:spPr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D95A16A-B23E-1A3B-0890-F1CCE056996D}"/>
                </a:ext>
              </a:extLst>
            </p:cNvPr>
            <p:cNvSpPr txBox="1"/>
            <p:nvPr/>
          </p:nvSpPr>
          <p:spPr>
            <a:xfrm>
              <a:off x="1007933" y="755434"/>
              <a:ext cx="114670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b="1" spc="0" baseline="0" dirty="0">
                  <a:ln/>
                  <a:solidFill>
                    <a:srgbClr val="FFFFFF"/>
                  </a:solidFill>
                  <a:latin typeface="微软雅黑"/>
                  <a:ea typeface="微软雅黑"/>
                  <a:sym typeface="微软雅黑"/>
                  <a:rtl val="0"/>
                </a:rPr>
                <a:t>实际场景：100万元初始资金，沪深300股票 + 现金，非平稳市场，每个时期运行 h 个交易日更新一次</a:t>
              </a:r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333345BC-443F-7A20-2FE0-0946FED1C5FE}"/>
                </a:ext>
              </a:extLst>
            </p:cNvPr>
            <p:cNvSpPr/>
            <p:nvPr/>
          </p:nvSpPr>
          <p:spPr>
            <a:xfrm>
              <a:off x="616291" y="2052382"/>
              <a:ext cx="1409700" cy="1920240"/>
            </a:xfrm>
            <a:prstGeom prst="roundRect">
              <a:avLst>
                <a:gd name="adj" fmla="val 6486"/>
              </a:avLst>
            </a:prstGeom>
            <a:solidFill>
              <a:srgbClr val="FFFFFF"/>
            </a:solidFill>
            <a:ln w="22860" cap="flat">
              <a:solidFill>
                <a:srgbClr val="08245C"/>
              </a:solidFill>
              <a:prstDash val="solid"/>
              <a:miter/>
            </a:ln>
          </p:spPr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006ABF11-F00C-16F0-6E8E-E08366576705}"/>
                </a:ext>
              </a:extLst>
            </p:cNvPr>
            <p:cNvSpPr/>
            <p:nvPr/>
          </p:nvSpPr>
          <p:spPr>
            <a:xfrm>
              <a:off x="616291" y="2052382"/>
              <a:ext cx="1409700" cy="350520"/>
            </a:xfrm>
            <a:prstGeom prst="roundRect">
              <a:avLst>
                <a:gd name="adj" fmla="val 26086"/>
              </a:avLst>
            </a:prstGeom>
            <a:gradFill>
              <a:gsLst>
                <a:gs pos="0">
                  <a:srgbClr val="071F55"/>
                </a:gs>
                <a:gs pos="55000">
                  <a:srgbClr val="082965"/>
                </a:gs>
                <a:gs pos="100000">
                  <a:srgbClr val="061B4C"/>
                </a:gs>
              </a:gsLst>
              <a:lin ang="0" scaled="1"/>
            </a:gradFill>
            <a:ln w="7620" cap="flat">
              <a:noFill/>
              <a:prstDash val="solid"/>
              <a:miter/>
            </a:ln>
          </p:spPr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493C4839-456C-6D60-DD50-FD571B759B3A}"/>
                </a:ext>
              </a:extLst>
            </p:cNvPr>
            <p:cNvSpPr/>
            <p:nvPr/>
          </p:nvSpPr>
          <p:spPr>
            <a:xfrm>
              <a:off x="616291" y="2311462"/>
              <a:ext cx="1409700" cy="91440"/>
            </a:xfrm>
            <a:custGeom>
              <a:avLst/>
              <a:gdLst>
                <a:gd name="csX0" fmla="*/ 0 w 1409700"/>
                <a:gd name="csY0" fmla="*/ 0 h 91440"/>
                <a:gd name="csX1" fmla="*/ 1409700 w 1409700"/>
                <a:gd name="csY1" fmla="*/ 0 h 91440"/>
                <a:gd name="csX2" fmla="*/ 1409700 w 1409700"/>
                <a:gd name="csY2" fmla="*/ 91440 h 91440"/>
                <a:gd name="csX3" fmla="*/ 0 w 1409700"/>
                <a:gd name="csY3" fmla="*/ 91440 h 914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09700" h="91440">
                  <a:moveTo>
                    <a:pt x="0" y="0"/>
                  </a:moveTo>
                  <a:lnTo>
                    <a:pt x="1409700" y="0"/>
                  </a:lnTo>
                  <a:lnTo>
                    <a:pt x="1409700" y="91440"/>
                  </a:lnTo>
                  <a:lnTo>
                    <a:pt x="0" y="91440"/>
                  </a:lnTo>
                  <a:close/>
                </a:path>
              </a:pathLst>
            </a:custGeom>
            <a:gradFill>
              <a:gsLst>
                <a:gs pos="0">
                  <a:srgbClr val="071F55"/>
                </a:gs>
                <a:gs pos="55000">
                  <a:srgbClr val="082965"/>
                </a:gs>
                <a:gs pos="100000">
                  <a:srgbClr val="061B4C"/>
                </a:gs>
              </a:gsLst>
              <a:lin ang="0" scaled="1"/>
            </a:gradFill>
            <a:ln w="7620" cap="flat">
              <a:noFill/>
              <a:prstDash val="solid"/>
              <a:miter/>
            </a:ln>
          </p:spPr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FD5C6F5-5C26-6036-27B8-051554B7FC15}"/>
                </a:ext>
              </a:extLst>
            </p:cNvPr>
            <p:cNvSpPr txBox="1"/>
            <p:nvPr/>
          </p:nvSpPr>
          <p:spPr>
            <a:xfrm>
              <a:off x="666565" y="2041755"/>
              <a:ext cx="12971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b="1" spc="0" baseline="0">
                  <a:ln/>
                  <a:solidFill>
                    <a:srgbClr val="FFFFFF"/>
                  </a:solidFill>
                  <a:latin typeface="微软雅黑"/>
                  <a:ea typeface="微软雅黑"/>
                  <a:sym typeface="微软雅黑"/>
                  <a:rtl val="0"/>
                </a:rPr>
                <a:t>1. 开盘前观察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6C92ECCB-904F-2D39-0B50-58FCD9CF85D8}"/>
                </a:ext>
              </a:extLst>
            </p:cNvPr>
            <p:cNvSpPr txBox="1"/>
            <p:nvPr/>
          </p:nvSpPr>
          <p:spPr>
            <a:xfrm>
              <a:off x="645279" y="2521808"/>
              <a:ext cx="12618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b="1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股票</a:t>
              </a:r>
              <a:r>
                <a:rPr lang="zh-CN" altLang="en-US" sz="1400" b="1" spc="0" baseline="0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因子向量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AA8B20B-0296-F431-BF20-0CCDE9E2F9C7}"/>
                </a:ext>
              </a:extLst>
            </p:cNvPr>
            <p:cNvSpPr txBox="1"/>
            <p:nvPr/>
          </p:nvSpPr>
          <p:spPr>
            <a:xfrm>
              <a:off x="566326" y="287277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b="1" spc="0" baseline="0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上一期投资</a:t>
              </a:r>
              <a:r>
                <a:rPr lang="zh-CN" altLang="en-US" sz="1400" b="1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组合</a:t>
              </a:r>
              <a:endParaRPr lang="zh-CN" altLang="en-US" sz="1400" b="1" spc="0" baseline="0" dirty="0">
                <a:ln/>
                <a:solidFill>
                  <a:srgbClr val="111827"/>
                </a:solidFill>
                <a:latin typeface="微软雅黑"/>
                <a:ea typeface="微软雅黑"/>
                <a:sym typeface="微软雅黑"/>
                <a:rtl val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D1F66C42-A948-4E2A-983D-29B6C9BCED0C}"/>
                </a:ext>
              </a:extLst>
            </p:cNvPr>
            <p:cNvSpPr txBox="1"/>
            <p:nvPr/>
          </p:nvSpPr>
          <p:spPr>
            <a:xfrm>
              <a:off x="889939" y="3215678"/>
              <a:ext cx="1031757" cy="307777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l"/>
              <a:r>
                <a:rPr lang="zh-CN" altLang="en-US" sz="1400" b="1" spc="0" baseline="0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参考点 r</a:t>
              </a:r>
              <a:r>
                <a:rPr lang="zh-CN" altLang="en-US" sz="1400" b="1" spc="0" baseline="-43994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t</a:t>
              </a:r>
              <a:r>
                <a:rPr lang="en-US" altLang="zh-CN" sz="1400" b="1" baseline="-43994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_k</a:t>
              </a:r>
              <a:endParaRPr lang="zh-CN" altLang="en-US" sz="1400" b="1" spc="0" baseline="-43994" dirty="0">
                <a:ln/>
                <a:solidFill>
                  <a:srgbClr val="111827"/>
                </a:solidFill>
                <a:latin typeface="微软雅黑"/>
                <a:ea typeface="微软雅黑"/>
                <a:sym typeface="微软雅黑"/>
                <a:rtl val="0"/>
              </a:endParaRP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E2325522-B952-CD06-1E7A-4DDA68986903}"/>
                </a:ext>
              </a:extLst>
            </p:cNvPr>
            <p:cNvSpPr/>
            <p:nvPr/>
          </p:nvSpPr>
          <p:spPr>
            <a:xfrm>
              <a:off x="2445091" y="1816162"/>
              <a:ext cx="2270760" cy="2674620"/>
            </a:xfrm>
            <a:prstGeom prst="roundRect">
              <a:avLst>
                <a:gd name="adj" fmla="val 4697"/>
              </a:avLst>
            </a:prstGeom>
            <a:solidFill>
              <a:srgbClr val="FFFFFF"/>
            </a:solidFill>
            <a:ln w="22860" cap="flat">
              <a:solidFill>
                <a:srgbClr val="0B6665"/>
              </a:solidFill>
              <a:prstDash val="solid"/>
              <a:miter/>
            </a:ln>
          </p:spPr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757603C9-4267-E698-0D41-AE98251EF08C}"/>
                </a:ext>
              </a:extLst>
            </p:cNvPr>
            <p:cNvSpPr/>
            <p:nvPr/>
          </p:nvSpPr>
          <p:spPr>
            <a:xfrm>
              <a:off x="2445091" y="1816162"/>
              <a:ext cx="2270760" cy="381000"/>
            </a:xfrm>
            <a:prstGeom prst="roundRect">
              <a:avLst>
                <a:gd name="adj" fmla="val 28000"/>
              </a:avLst>
            </a:prstGeom>
            <a:gradFill>
              <a:gsLst>
                <a:gs pos="0">
                  <a:srgbClr val="0B6F6C"/>
                </a:gs>
                <a:gs pos="50000">
                  <a:srgbClr val="0B5E62"/>
                </a:gs>
                <a:gs pos="100000">
                  <a:srgbClr val="0B4E58"/>
                </a:gs>
              </a:gsLst>
              <a:lin ang="0" scaled="1"/>
            </a:gradFill>
            <a:ln w="7620" cap="flat">
              <a:noFill/>
              <a:prstDash val="solid"/>
              <a:miter/>
            </a:ln>
          </p:spPr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7BA29DFD-1A28-5486-31B7-DFB087621ED5}"/>
                </a:ext>
              </a:extLst>
            </p:cNvPr>
            <p:cNvSpPr/>
            <p:nvPr/>
          </p:nvSpPr>
          <p:spPr>
            <a:xfrm>
              <a:off x="2445091" y="2113342"/>
              <a:ext cx="2270760" cy="83820"/>
            </a:xfrm>
            <a:custGeom>
              <a:avLst/>
              <a:gdLst>
                <a:gd name="csX0" fmla="*/ 0 w 2270760"/>
                <a:gd name="csY0" fmla="*/ 0 h 83820"/>
                <a:gd name="csX1" fmla="*/ 2270760 w 2270760"/>
                <a:gd name="csY1" fmla="*/ 0 h 83820"/>
                <a:gd name="csX2" fmla="*/ 2270760 w 2270760"/>
                <a:gd name="csY2" fmla="*/ 83820 h 83820"/>
                <a:gd name="csX3" fmla="*/ 0 w 2270760"/>
                <a:gd name="csY3" fmla="*/ 83820 h 838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70760" h="83820">
                  <a:moveTo>
                    <a:pt x="0" y="0"/>
                  </a:moveTo>
                  <a:lnTo>
                    <a:pt x="2270760" y="0"/>
                  </a:lnTo>
                  <a:lnTo>
                    <a:pt x="2270760" y="83820"/>
                  </a:lnTo>
                  <a:lnTo>
                    <a:pt x="0" y="83820"/>
                  </a:lnTo>
                  <a:close/>
                </a:path>
              </a:pathLst>
            </a:custGeom>
            <a:gradFill>
              <a:gsLst>
                <a:gs pos="0">
                  <a:srgbClr val="0B6F6C"/>
                </a:gs>
                <a:gs pos="50000">
                  <a:srgbClr val="0B5E62"/>
                </a:gs>
                <a:gs pos="100000">
                  <a:srgbClr val="0B4E58"/>
                </a:gs>
              </a:gsLst>
              <a:lin ang="0" scaled="1"/>
            </a:gradFill>
            <a:ln w="7620" cap="flat">
              <a:noFill/>
              <a:prstDash val="solid"/>
              <a:miter/>
            </a:ln>
          </p:spPr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94A145DD-ED42-E832-E774-03BC970F69FD}"/>
                </a:ext>
              </a:extLst>
            </p:cNvPr>
            <p:cNvSpPr txBox="1"/>
            <p:nvPr/>
          </p:nvSpPr>
          <p:spPr>
            <a:xfrm>
              <a:off x="2367864" y="1820775"/>
              <a:ext cx="23846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b="1" spc="0" baseline="0" dirty="0">
                  <a:ln/>
                  <a:solidFill>
                    <a:srgbClr val="FFFFFF"/>
                  </a:solidFill>
                  <a:latin typeface="微软雅黑"/>
                  <a:ea typeface="微软雅黑"/>
                  <a:sym typeface="微软雅黑"/>
                  <a:rtl val="0"/>
                </a:rPr>
                <a:t>算法一：Dirichlet策略函数</a:t>
              </a:r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76CDA64C-503D-B4E3-8848-D1816386DF68}"/>
                </a:ext>
              </a:extLst>
            </p:cNvPr>
            <p:cNvSpPr/>
            <p:nvPr/>
          </p:nvSpPr>
          <p:spPr>
            <a:xfrm>
              <a:off x="2582251" y="2273362"/>
              <a:ext cx="1981200" cy="358140"/>
            </a:xfrm>
            <a:prstGeom prst="roundRect">
              <a:avLst>
                <a:gd name="adj" fmla="val 17021"/>
              </a:avLst>
            </a:prstGeom>
            <a:gradFill>
              <a:gsLst>
                <a:gs pos="0">
                  <a:srgbClr val="EEF8F8"/>
                </a:gs>
                <a:gs pos="50000">
                  <a:srgbClr val="F6FBFB"/>
                </a:gs>
                <a:gs pos="100000">
                  <a:srgbClr val="FFFFFF"/>
                </a:gs>
              </a:gsLst>
              <a:lin ang="2700000" scaled="1"/>
            </a:gradFill>
            <a:ln w="7620" cap="flat">
              <a:noFill/>
              <a:prstDash val="solid"/>
              <a:miter/>
            </a:ln>
          </p:spPr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AE4E192C-86EC-14B0-0256-221FF32FFAE3}"/>
                </a:ext>
              </a:extLst>
            </p:cNvPr>
            <p:cNvSpPr txBox="1"/>
            <p:nvPr/>
          </p:nvSpPr>
          <p:spPr>
            <a:xfrm>
              <a:off x="2889651" y="2277061"/>
              <a:ext cx="1468672" cy="307777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l"/>
              <a:r>
                <a:rPr lang="zh-CN" altLang="en-US" sz="1400" b="1" spc="0" baseline="0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股票因子向量 q</a:t>
              </a:r>
              <a:r>
                <a:rPr lang="zh-CN" altLang="en-US" sz="1400" b="1" spc="0" baseline="-43994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i</a:t>
              </a:r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43155CCF-1585-41B4-288C-C2E8A0572275}"/>
                </a:ext>
              </a:extLst>
            </p:cNvPr>
            <p:cNvSpPr/>
            <p:nvPr/>
          </p:nvSpPr>
          <p:spPr>
            <a:xfrm>
              <a:off x="3580471" y="2677222"/>
              <a:ext cx="7620" cy="167640"/>
            </a:xfrm>
            <a:custGeom>
              <a:avLst/>
              <a:gdLst>
                <a:gd name="csX0" fmla="*/ 0 w 7620"/>
                <a:gd name="csY0" fmla="*/ 0 h 167640"/>
                <a:gd name="csX1" fmla="*/ 0 w 7620"/>
                <a:gd name="csY1" fmla="*/ 167640 h 167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620" h="167640">
                  <a:moveTo>
                    <a:pt x="0" y="0"/>
                  </a:moveTo>
                  <a:lnTo>
                    <a:pt x="0" y="167640"/>
                  </a:lnTo>
                </a:path>
              </a:pathLst>
            </a:custGeom>
            <a:noFill/>
            <a:ln w="24384" cap="rnd">
              <a:solidFill>
                <a:srgbClr val="08245C"/>
              </a:solidFill>
              <a:prstDash val="solid"/>
              <a:round/>
            </a:ln>
          </p:spPr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491F6564-99CF-A678-670D-DDA6A8C0AE15}"/>
                </a:ext>
              </a:extLst>
            </p:cNvPr>
            <p:cNvSpPr/>
            <p:nvPr/>
          </p:nvSpPr>
          <p:spPr>
            <a:xfrm>
              <a:off x="2582251" y="2837242"/>
              <a:ext cx="1981200" cy="358140"/>
            </a:xfrm>
            <a:prstGeom prst="roundRect">
              <a:avLst>
                <a:gd name="adj" fmla="val 17021"/>
              </a:avLst>
            </a:prstGeom>
            <a:gradFill>
              <a:gsLst>
                <a:gs pos="0">
                  <a:srgbClr val="EEF8F8"/>
                </a:gs>
                <a:gs pos="50000">
                  <a:srgbClr val="F6FBFB"/>
                </a:gs>
                <a:gs pos="100000">
                  <a:srgbClr val="FFFFFF"/>
                </a:gs>
              </a:gsLst>
              <a:lin ang="2700000" scaled="1"/>
            </a:gradFill>
            <a:ln w="7620" cap="flat">
              <a:noFill/>
              <a:prstDash val="solid"/>
              <a:miter/>
            </a:ln>
          </p:spPr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5571188B-B45B-301C-04CA-56D1C6F18E78}"/>
                </a:ext>
              </a:extLst>
            </p:cNvPr>
            <p:cNvSpPr txBox="1"/>
            <p:nvPr/>
          </p:nvSpPr>
          <p:spPr>
            <a:xfrm>
              <a:off x="2811443" y="2834678"/>
              <a:ext cx="16610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spc="0" baseline="0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策略参数 </a:t>
              </a:r>
              <a:r>
                <a:rPr lang="en-US" altLang="zh-CN" sz="1400" b="1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θ</a:t>
              </a:r>
              <a:r>
                <a:rPr lang="zh-CN" altLang="en-US" sz="1400" b="1" spc="0" baseline="-43994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t</a:t>
              </a:r>
              <a:r>
                <a:rPr lang="en-US" altLang="zh-CN" sz="1400" b="1" spc="0" baseline="-43994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_k</a:t>
              </a:r>
              <a:r>
                <a:rPr lang="zh-CN" altLang="en-US" sz="1400" b="1" spc="0" baseline="0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 打分</a:t>
              </a:r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A03F0075-BBB4-BC21-6BC1-892E6B002618}"/>
                </a:ext>
              </a:extLst>
            </p:cNvPr>
            <p:cNvSpPr/>
            <p:nvPr/>
          </p:nvSpPr>
          <p:spPr>
            <a:xfrm>
              <a:off x="3580471" y="3241102"/>
              <a:ext cx="7620" cy="167640"/>
            </a:xfrm>
            <a:custGeom>
              <a:avLst/>
              <a:gdLst>
                <a:gd name="csX0" fmla="*/ 0 w 7620"/>
                <a:gd name="csY0" fmla="*/ 0 h 167640"/>
                <a:gd name="csX1" fmla="*/ 0 w 7620"/>
                <a:gd name="csY1" fmla="*/ 167640 h 167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620" h="167640">
                  <a:moveTo>
                    <a:pt x="0" y="0"/>
                  </a:moveTo>
                  <a:lnTo>
                    <a:pt x="0" y="167640"/>
                  </a:lnTo>
                </a:path>
              </a:pathLst>
            </a:custGeom>
            <a:noFill/>
            <a:ln w="24384" cap="rnd">
              <a:solidFill>
                <a:srgbClr val="08245C"/>
              </a:solidFill>
              <a:prstDash val="solid"/>
              <a:round/>
            </a:ln>
          </p:spPr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E8D3B542-A064-5BB3-C874-A43ABAD76D9C}"/>
                </a:ext>
              </a:extLst>
            </p:cNvPr>
            <p:cNvSpPr/>
            <p:nvPr/>
          </p:nvSpPr>
          <p:spPr>
            <a:xfrm>
              <a:off x="2582251" y="3401122"/>
              <a:ext cx="1981200" cy="358140"/>
            </a:xfrm>
            <a:prstGeom prst="roundRect">
              <a:avLst>
                <a:gd name="adj" fmla="val 17021"/>
              </a:avLst>
            </a:prstGeom>
            <a:gradFill>
              <a:gsLst>
                <a:gs pos="0">
                  <a:srgbClr val="EEF8F8"/>
                </a:gs>
                <a:gs pos="50000">
                  <a:srgbClr val="F6FBFB"/>
                </a:gs>
                <a:gs pos="100000">
                  <a:srgbClr val="FFFFFF"/>
                </a:gs>
              </a:gsLst>
              <a:lin ang="2700000" scaled="1"/>
            </a:gradFill>
            <a:ln w="7620" cap="flat">
              <a:noFill/>
              <a:prstDash val="solid"/>
              <a:miter/>
            </a:ln>
          </p:spPr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EB129D91-E753-2284-D563-E510535C045A}"/>
                </a:ext>
              </a:extLst>
            </p:cNvPr>
            <p:cNvSpPr txBox="1"/>
            <p:nvPr/>
          </p:nvSpPr>
          <p:spPr>
            <a:xfrm>
              <a:off x="2631778" y="3398558"/>
              <a:ext cx="20399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spc="0" baseline="0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映射成Dirichlet</a:t>
              </a:r>
              <a:r>
                <a:rPr lang="zh-CN" altLang="en-US" sz="1400" b="1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参数</a:t>
              </a:r>
              <a:r>
                <a:rPr lang="en-US" altLang="zh-CN" sz="1400" b="1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α</a:t>
              </a:r>
              <a:r>
                <a:rPr lang="zh-CN" altLang="en-US" sz="1400" b="1" baseline="-43994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i </a:t>
              </a:r>
              <a:endParaRPr lang="zh-CN" altLang="en-US" sz="1400" b="1" spc="0" baseline="0" dirty="0">
                <a:ln/>
                <a:solidFill>
                  <a:srgbClr val="111827"/>
                </a:solidFill>
                <a:latin typeface="微软雅黑"/>
                <a:ea typeface="微软雅黑"/>
                <a:sym typeface="微软雅黑"/>
                <a:rtl val="0"/>
              </a:endParaRPr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84076C2A-A56F-CE31-FB2B-8D7B1BFE6B14}"/>
                </a:ext>
              </a:extLst>
            </p:cNvPr>
            <p:cNvSpPr/>
            <p:nvPr/>
          </p:nvSpPr>
          <p:spPr>
            <a:xfrm>
              <a:off x="3580471" y="3804982"/>
              <a:ext cx="7620" cy="167640"/>
            </a:xfrm>
            <a:custGeom>
              <a:avLst/>
              <a:gdLst>
                <a:gd name="csX0" fmla="*/ 0 w 7620"/>
                <a:gd name="csY0" fmla="*/ 0 h 167640"/>
                <a:gd name="csX1" fmla="*/ 0 w 7620"/>
                <a:gd name="csY1" fmla="*/ 167640 h 167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620" h="167640">
                  <a:moveTo>
                    <a:pt x="0" y="0"/>
                  </a:moveTo>
                  <a:lnTo>
                    <a:pt x="0" y="167640"/>
                  </a:lnTo>
                </a:path>
              </a:pathLst>
            </a:custGeom>
            <a:noFill/>
            <a:ln w="24384" cap="rnd">
              <a:solidFill>
                <a:srgbClr val="08245C"/>
              </a:solidFill>
              <a:prstDash val="solid"/>
              <a:round/>
            </a:ln>
          </p:spPr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E06027B6-A888-4429-626A-C11B4D3C1295}"/>
                </a:ext>
              </a:extLst>
            </p:cNvPr>
            <p:cNvSpPr/>
            <p:nvPr/>
          </p:nvSpPr>
          <p:spPr>
            <a:xfrm>
              <a:off x="2582251" y="3965002"/>
              <a:ext cx="1981200" cy="365760"/>
            </a:xfrm>
            <a:prstGeom prst="roundRect">
              <a:avLst>
                <a:gd name="adj" fmla="val 16666"/>
              </a:avLst>
            </a:prstGeom>
            <a:gradFill>
              <a:gsLst>
                <a:gs pos="0">
                  <a:srgbClr val="EEF8F8"/>
                </a:gs>
                <a:gs pos="50000">
                  <a:srgbClr val="F6FBFB"/>
                </a:gs>
                <a:gs pos="100000">
                  <a:srgbClr val="FFFFFF"/>
                </a:gs>
              </a:gsLst>
              <a:lin ang="2700000" scaled="1"/>
            </a:gradFill>
            <a:ln w="7620" cap="flat">
              <a:noFill/>
              <a:prstDash val="solid"/>
              <a:miter/>
            </a:ln>
          </p:spPr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762A3A16-9340-B797-DB43-B20168D0402B}"/>
                </a:ext>
              </a:extLst>
            </p:cNvPr>
            <p:cNvSpPr txBox="1"/>
            <p:nvPr/>
          </p:nvSpPr>
          <p:spPr>
            <a:xfrm>
              <a:off x="2539812" y="3994247"/>
              <a:ext cx="251131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200" b="1" spc="0" baseline="0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输出组合权重：现金 + 股票</a:t>
              </a:r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F177057F-30AA-4199-1BC6-4F5FF51A416E}"/>
                </a:ext>
              </a:extLst>
            </p:cNvPr>
            <p:cNvSpPr/>
            <p:nvPr/>
          </p:nvSpPr>
          <p:spPr>
            <a:xfrm>
              <a:off x="2025991" y="3012502"/>
              <a:ext cx="419100" cy="7620"/>
            </a:xfrm>
            <a:custGeom>
              <a:avLst/>
              <a:gdLst>
                <a:gd name="csX0" fmla="*/ 0 w 419100"/>
                <a:gd name="csY0" fmla="*/ 0 h 7620"/>
                <a:gd name="csX1" fmla="*/ 419100 w 419100"/>
                <a:gd name="csY1" fmla="*/ 0 h 76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19100" h="7620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38100" cap="rnd">
              <a:solidFill>
                <a:srgbClr val="08245C"/>
              </a:solidFill>
              <a:prstDash val="solid"/>
              <a:round/>
            </a:ln>
          </p:spPr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4137B870-A641-258E-98CA-4541EA3BA982}"/>
                </a:ext>
              </a:extLst>
            </p:cNvPr>
            <p:cNvSpPr/>
            <p:nvPr/>
          </p:nvSpPr>
          <p:spPr>
            <a:xfrm>
              <a:off x="5188291" y="1602802"/>
              <a:ext cx="5052060" cy="1295400"/>
            </a:xfrm>
            <a:prstGeom prst="roundRect">
              <a:avLst>
                <a:gd name="adj" fmla="val 8823"/>
              </a:avLst>
            </a:prstGeom>
            <a:solidFill>
              <a:srgbClr val="FFFFFF"/>
            </a:solidFill>
            <a:ln w="24384" cap="flat">
              <a:solidFill>
                <a:srgbClr val="08245C"/>
              </a:solidFill>
              <a:prstDash val="solid"/>
              <a:miter/>
            </a:ln>
          </p:spPr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B6C519ED-E046-8CDC-7FC7-D64166D62F0D}"/>
                </a:ext>
              </a:extLst>
            </p:cNvPr>
            <p:cNvSpPr/>
            <p:nvPr/>
          </p:nvSpPr>
          <p:spPr>
            <a:xfrm>
              <a:off x="6224611" y="1427542"/>
              <a:ext cx="2026920" cy="327660"/>
            </a:xfrm>
            <a:prstGeom prst="roundRect">
              <a:avLst>
                <a:gd name="adj" fmla="val 23255"/>
              </a:avLst>
            </a:prstGeom>
            <a:gradFill>
              <a:gsLst>
                <a:gs pos="0">
                  <a:srgbClr val="071F55"/>
                </a:gs>
                <a:gs pos="55000">
                  <a:srgbClr val="082965"/>
                </a:gs>
                <a:gs pos="100000">
                  <a:srgbClr val="061B4C"/>
                </a:gs>
              </a:gsLst>
              <a:lin ang="0" scaled="1"/>
            </a:gradFill>
            <a:ln w="7620" cap="flat">
              <a:noFill/>
              <a:prstDash val="solid"/>
              <a:miter/>
            </a:ln>
          </p:spPr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4C32E43-EAFC-53CD-DB9C-C6BCC4860F8D}"/>
                </a:ext>
              </a:extLst>
            </p:cNvPr>
            <p:cNvSpPr txBox="1"/>
            <p:nvPr/>
          </p:nvSpPr>
          <p:spPr>
            <a:xfrm>
              <a:off x="6536278" y="1423489"/>
              <a:ext cx="12618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b="1" spc="0" baseline="0" dirty="0">
                  <a:ln/>
                  <a:solidFill>
                    <a:srgbClr val="FFFFFF"/>
                  </a:solidFill>
                  <a:latin typeface="微软雅黑"/>
                  <a:ea typeface="微软雅黑"/>
                  <a:sym typeface="微软雅黑"/>
                  <a:rtl val="0"/>
                </a:rPr>
                <a:t>真实执行路径</a:t>
              </a:r>
            </a:p>
          </p:txBody>
        </p: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C8863064-AE4C-92F2-0D6B-BABF23BDFC3B}"/>
                </a:ext>
              </a:extLst>
            </p:cNvPr>
            <p:cNvSpPr/>
            <p:nvPr/>
          </p:nvSpPr>
          <p:spPr>
            <a:xfrm>
              <a:off x="5325607" y="1854262"/>
              <a:ext cx="1082040" cy="61722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22860" cap="flat">
              <a:solidFill>
                <a:srgbClr val="08245C"/>
              </a:solidFill>
              <a:prstDash val="solid"/>
              <a:miter/>
            </a:ln>
          </p:spPr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FFD8555F-A921-5D6E-C99A-B90101C1252D}"/>
                </a:ext>
              </a:extLst>
            </p:cNvPr>
            <p:cNvSpPr txBox="1"/>
            <p:nvPr/>
          </p:nvSpPr>
          <p:spPr>
            <a:xfrm>
              <a:off x="5192846" y="1913415"/>
              <a:ext cx="1336083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300" b="1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策略每天输出平均最好组合</a:t>
              </a:r>
              <a:endParaRPr lang="zh-CN" altLang="en-US" sz="1300" b="1" spc="0" baseline="0" dirty="0">
                <a:ln/>
                <a:solidFill>
                  <a:srgbClr val="111827"/>
                </a:solidFill>
                <a:latin typeface="微软雅黑"/>
                <a:ea typeface="微软雅黑"/>
                <a:sym typeface="微软雅黑"/>
                <a:rtl val="0"/>
              </a:endParaRPr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1D04510F-DA9A-69E4-2F93-30296E04C200}"/>
                </a:ext>
              </a:extLst>
            </p:cNvPr>
            <p:cNvSpPr/>
            <p:nvPr/>
          </p:nvSpPr>
          <p:spPr>
            <a:xfrm>
              <a:off x="6643711" y="1854262"/>
              <a:ext cx="937260" cy="61722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22860" cap="flat">
              <a:solidFill>
                <a:srgbClr val="08245C"/>
              </a:solidFill>
              <a:prstDash val="solid"/>
              <a:miter/>
            </a:ln>
          </p:spPr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90A6DFCC-B132-CC75-EF68-3D23078D6337}"/>
                </a:ext>
              </a:extLst>
            </p:cNvPr>
            <p:cNvSpPr txBox="1"/>
            <p:nvPr/>
          </p:nvSpPr>
          <p:spPr>
            <a:xfrm>
              <a:off x="6591774" y="1919823"/>
              <a:ext cx="104009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300" b="1" spc="0" baseline="0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每天开盘后执行</a:t>
              </a:r>
            </a:p>
          </p:txBody>
        </p:sp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41256F9A-C770-94F7-C04E-6CCF3E9FC040}"/>
                </a:ext>
              </a:extLst>
            </p:cNvPr>
            <p:cNvSpPr/>
            <p:nvPr/>
          </p:nvSpPr>
          <p:spPr>
            <a:xfrm>
              <a:off x="7855291" y="1854262"/>
              <a:ext cx="922020" cy="61722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22860" cap="flat">
              <a:solidFill>
                <a:srgbClr val="08245C"/>
              </a:solidFill>
              <a:prstDash val="solid"/>
              <a:miter/>
            </a:ln>
          </p:spPr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FE8E1491-E5D3-24CF-AC16-412329C00CA3}"/>
                </a:ext>
              </a:extLst>
            </p:cNvPr>
            <p:cNvSpPr txBox="1"/>
            <p:nvPr/>
          </p:nvSpPr>
          <p:spPr>
            <a:xfrm>
              <a:off x="7896071" y="1922376"/>
              <a:ext cx="922602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300" b="1" spc="0" baseline="0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每天收盘观测</a:t>
              </a:r>
              <a:r>
                <a:rPr lang="zh-CN" altLang="en-US" sz="1300" b="1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财富</a:t>
              </a:r>
              <a:endParaRPr lang="zh-CN" altLang="en-US" sz="1300" b="1" spc="0" baseline="0" dirty="0">
                <a:ln/>
                <a:solidFill>
                  <a:srgbClr val="111827"/>
                </a:solidFill>
                <a:latin typeface="微软雅黑"/>
                <a:ea typeface="微软雅黑"/>
                <a:sym typeface="微软雅黑"/>
                <a:rtl val="0"/>
              </a:endParaRPr>
            </a:p>
          </p:txBody>
        </p:sp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0AA8E459-F286-7227-3C13-91103C853423}"/>
                </a:ext>
              </a:extLst>
            </p:cNvPr>
            <p:cNvSpPr/>
            <p:nvPr/>
          </p:nvSpPr>
          <p:spPr>
            <a:xfrm>
              <a:off x="9028771" y="1854262"/>
              <a:ext cx="1021080" cy="61722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22860" cap="flat">
              <a:solidFill>
                <a:srgbClr val="08245C"/>
              </a:solidFill>
              <a:prstDash val="solid"/>
              <a:miter/>
            </a:ln>
          </p:spPr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72F4864A-CED4-738D-29D0-133C4B7685CF}"/>
                </a:ext>
              </a:extLst>
            </p:cNvPr>
            <p:cNvSpPr txBox="1"/>
            <p:nvPr/>
          </p:nvSpPr>
          <p:spPr>
            <a:xfrm>
              <a:off x="8942894" y="1921966"/>
              <a:ext cx="122232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300" b="1" spc="0" baseline="0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每天动态更新参考点</a:t>
              </a: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46BA1C59-FCB0-3334-5BFC-2C76A1C615E6}"/>
                </a:ext>
              </a:extLst>
            </p:cNvPr>
            <p:cNvSpPr txBox="1"/>
            <p:nvPr/>
          </p:nvSpPr>
          <p:spPr>
            <a:xfrm>
              <a:off x="7984831" y="2515966"/>
              <a:ext cx="21595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b="1" spc="0" baseline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盈利适应快，亏损适应慢</a:t>
              </a:r>
            </a:p>
          </p:txBody>
        </p:sp>
        <p:sp>
          <p:nvSpPr>
            <p:cNvPr id="49" name="任意多边形: 形状 48">
              <a:extLst>
                <a:ext uri="{FF2B5EF4-FFF2-40B4-BE49-F238E27FC236}">
                  <a16:creationId xmlns:a16="http://schemas.microsoft.com/office/drawing/2014/main" id="{A3555C18-7259-929D-F988-2C1360AE6FD4}"/>
                </a:ext>
              </a:extLst>
            </p:cNvPr>
            <p:cNvSpPr/>
            <p:nvPr/>
          </p:nvSpPr>
          <p:spPr>
            <a:xfrm>
              <a:off x="6415111" y="2166682"/>
              <a:ext cx="228600" cy="7620"/>
            </a:xfrm>
            <a:custGeom>
              <a:avLst/>
              <a:gdLst>
                <a:gd name="csX0" fmla="*/ 0 w 228600"/>
                <a:gd name="csY0" fmla="*/ 0 h 7620"/>
                <a:gd name="csX1" fmla="*/ 228600 w 228600"/>
                <a:gd name="csY1" fmla="*/ 0 h 76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28600" h="7620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24384" cap="rnd">
              <a:solidFill>
                <a:srgbClr val="08245C"/>
              </a:solidFill>
              <a:prstDash val="solid"/>
              <a:round/>
            </a:ln>
          </p:spPr>
        </p:sp>
        <p:sp>
          <p:nvSpPr>
            <p:cNvPr id="50" name="任意多边形: 形状 49">
              <a:extLst>
                <a:ext uri="{FF2B5EF4-FFF2-40B4-BE49-F238E27FC236}">
                  <a16:creationId xmlns:a16="http://schemas.microsoft.com/office/drawing/2014/main" id="{8AF4830C-1EC6-BB77-899D-50A265917840}"/>
                </a:ext>
              </a:extLst>
            </p:cNvPr>
            <p:cNvSpPr/>
            <p:nvPr/>
          </p:nvSpPr>
          <p:spPr>
            <a:xfrm>
              <a:off x="7580971" y="2166682"/>
              <a:ext cx="274320" cy="7620"/>
            </a:xfrm>
            <a:custGeom>
              <a:avLst/>
              <a:gdLst>
                <a:gd name="csX0" fmla="*/ 0 w 274320"/>
                <a:gd name="csY0" fmla="*/ 0 h 7620"/>
                <a:gd name="csX1" fmla="*/ 274320 w 274320"/>
                <a:gd name="csY1" fmla="*/ 0 h 76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74320" h="7620">
                  <a:moveTo>
                    <a:pt x="0" y="0"/>
                  </a:moveTo>
                  <a:lnTo>
                    <a:pt x="274320" y="0"/>
                  </a:lnTo>
                </a:path>
              </a:pathLst>
            </a:custGeom>
            <a:noFill/>
            <a:ln w="24384" cap="rnd">
              <a:solidFill>
                <a:srgbClr val="08245C"/>
              </a:solidFill>
              <a:prstDash val="solid"/>
              <a:round/>
            </a:ln>
          </p:spPr>
        </p:sp>
        <p:sp>
          <p:nvSpPr>
            <p:cNvPr id="51" name="任意多边形: 形状 50">
              <a:extLst>
                <a:ext uri="{FF2B5EF4-FFF2-40B4-BE49-F238E27FC236}">
                  <a16:creationId xmlns:a16="http://schemas.microsoft.com/office/drawing/2014/main" id="{619D0F38-00B0-2911-1EB7-927918B03614}"/>
                </a:ext>
              </a:extLst>
            </p:cNvPr>
            <p:cNvSpPr/>
            <p:nvPr/>
          </p:nvSpPr>
          <p:spPr>
            <a:xfrm>
              <a:off x="8777311" y="2166682"/>
              <a:ext cx="251460" cy="7620"/>
            </a:xfrm>
            <a:custGeom>
              <a:avLst/>
              <a:gdLst>
                <a:gd name="csX0" fmla="*/ 0 w 251460"/>
                <a:gd name="csY0" fmla="*/ 0 h 7620"/>
                <a:gd name="csX1" fmla="*/ 251460 w 251460"/>
                <a:gd name="csY1" fmla="*/ 0 h 76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51460" h="7620">
                  <a:moveTo>
                    <a:pt x="0" y="0"/>
                  </a:moveTo>
                  <a:lnTo>
                    <a:pt x="251460" y="0"/>
                  </a:lnTo>
                </a:path>
              </a:pathLst>
            </a:custGeom>
            <a:noFill/>
            <a:ln w="24384" cap="rnd">
              <a:solidFill>
                <a:srgbClr val="08245C"/>
              </a:solidFill>
              <a:prstDash val="solid"/>
              <a:round/>
            </a:ln>
          </p:spPr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48BE9879-4895-2330-5406-D84062BDBCBA}"/>
                </a:ext>
              </a:extLst>
            </p:cNvPr>
            <p:cNvSpPr/>
            <p:nvPr/>
          </p:nvSpPr>
          <p:spPr>
            <a:xfrm>
              <a:off x="5203531" y="3332542"/>
              <a:ext cx="5052060" cy="1257300"/>
            </a:xfrm>
            <a:prstGeom prst="roundRect">
              <a:avLst>
                <a:gd name="adj" fmla="val 9090"/>
              </a:avLst>
            </a:prstGeom>
            <a:solidFill>
              <a:srgbClr val="FFFFFF"/>
            </a:solidFill>
            <a:ln w="24384" cap="flat">
              <a:solidFill>
                <a:srgbClr val="0B6665"/>
              </a:solidFill>
              <a:prstDash val="solid"/>
              <a:miter/>
            </a:ln>
          </p:spPr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F682079E-BFA6-D45D-06A1-10CB39EF27CF}"/>
                </a:ext>
              </a:extLst>
            </p:cNvPr>
            <p:cNvSpPr/>
            <p:nvPr/>
          </p:nvSpPr>
          <p:spPr>
            <a:xfrm>
              <a:off x="6224611" y="3164902"/>
              <a:ext cx="2042160" cy="327660"/>
            </a:xfrm>
            <a:prstGeom prst="roundRect">
              <a:avLst>
                <a:gd name="adj" fmla="val 23255"/>
              </a:avLst>
            </a:prstGeom>
            <a:gradFill>
              <a:gsLst>
                <a:gs pos="0">
                  <a:srgbClr val="0B6F6C"/>
                </a:gs>
                <a:gs pos="50000">
                  <a:srgbClr val="0B5E62"/>
                </a:gs>
                <a:gs pos="100000">
                  <a:srgbClr val="0B4E58"/>
                </a:gs>
              </a:gsLst>
              <a:lin ang="0" scaled="1"/>
            </a:gradFill>
            <a:ln w="7620" cap="flat">
              <a:noFill/>
              <a:prstDash val="solid"/>
              <a:miter/>
            </a:ln>
          </p:spPr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100AD76C-3C34-6FB0-01D4-34D6AEF20551}"/>
                </a:ext>
              </a:extLst>
            </p:cNvPr>
            <p:cNvSpPr txBox="1"/>
            <p:nvPr/>
          </p:nvSpPr>
          <p:spPr>
            <a:xfrm>
              <a:off x="6274669" y="3169545"/>
              <a:ext cx="18551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b="1" dirty="0">
                  <a:ln/>
                  <a:solidFill>
                    <a:srgbClr val="FFFFFF"/>
                  </a:solidFill>
                  <a:latin typeface="微软雅黑"/>
                  <a:ea typeface="微软雅黑"/>
                  <a:sym typeface="微软雅黑"/>
                  <a:rtl val="0"/>
                </a:rPr>
                <a:t>算法二</a:t>
              </a:r>
              <a:r>
                <a:rPr lang="zh-CN" altLang="en-US" sz="1400" b="1" spc="0" baseline="0" dirty="0">
                  <a:ln/>
                  <a:solidFill>
                    <a:srgbClr val="FFFFFF"/>
                  </a:solidFill>
                  <a:latin typeface="微软雅黑"/>
                  <a:ea typeface="微软雅黑"/>
                  <a:sym typeface="微软雅黑"/>
                  <a:rtl val="0"/>
                </a:rPr>
                <a:t>：</a:t>
              </a:r>
              <a:r>
                <a:rPr lang="en-US" altLang="zh-CN" sz="1400" b="1" spc="0" baseline="0" dirty="0">
                  <a:ln/>
                  <a:solidFill>
                    <a:srgbClr val="FFFFFF"/>
                  </a:solidFill>
                  <a:latin typeface="微软雅黑"/>
                  <a:ea typeface="微软雅黑"/>
                  <a:sym typeface="微软雅黑"/>
                  <a:rtl val="0"/>
                </a:rPr>
                <a:t>DRCPT-PG</a:t>
              </a:r>
              <a:endParaRPr lang="zh-CN" altLang="en-US" sz="1400" b="1" spc="0" baseline="0" dirty="0">
                <a:ln/>
                <a:solidFill>
                  <a:srgbClr val="FFFFFF"/>
                </a:solidFill>
                <a:latin typeface="微软雅黑"/>
                <a:ea typeface="微软雅黑"/>
                <a:sym typeface="微软雅黑"/>
                <a:rtl val="0"/>
              </a:endParaRPr>
            </a:p>
          </p:txBody>
        </p:sp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F6E233B4-F5C2-21E6-F262-08ECAF8F4F40}"/>
                </a:ext>
              </a:extLst>
            </p:cNvPr>
            <p:cNvSpPr/>
            <p:nvPr/>
          </p:nvSpPr>
          <p:spPr>
            <a:xfrm>
              <a:off x="5294971" y="3591622"/>
              <a:ext cx="1341120" cy="632460"/>
            </a:xfrm>
            <a:prstGeom prst="roundRect">
              <a:avLst>
                <a:gd name="adj" fmla="val 10843"/>
              </a:avLst>
            </a:prstGeom>
            <a:solidFill>
              <a:srgbClr val="FFFFFF"/>
            </a:solidFill>
            <a:ln w="16764" cap="flat">
              <a:solidFill>
                <a:srgbClr val="08245C"/>
              </a:solidFill>
              <a:prstDash val="solid"/>
              <a:miter/>
            </a:ln>
          </p:spPr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B6A2D3E9-BAD7-4506-23F5-49BBA161063F}"/>
                </a:ext>
              </a:extLst>
            </p:cNvPr>
            <p:cNvSpPr txBox="1"/>
            <p:nvPr/>
          </p:nvSpPr>
          <p:spPr>
            <a:xfrm>
              <a:off x="5318608" y="3664466"/>
              <a:ext cx="12766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策略随机采样</a:t>
              </a:r>
              <a:r>
                <a:rPr lang="zh-CN" altLang="en-US" sz="1400" b="1" spc="0" baseline="0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多条轨迹</a:t>
              </a:r>
            </a:p>
          </p:txBody>
        </p:sp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C9FEFD95-99A4-3F51-661A-E7ACBA950E52}"/>
                </a:ext>
              </a:extLst>
            </p:cNvPr>
            <p:cNvSpPr/>
            <p:nvPr/>
          </p:nvSpPr>
          <p:spPr>
            <a:xfrm>
              <a:off x="6849451" y="3591622"/>
              <a:ext cx="1043940" cy="632460"/>
            </a:xfrm>
            <a:prstGeom prst="roundRect">
              <a:avLst>
                <a:gd name="adj" fmla="val 10843"/>
              </a:avLst>
            </a:prstGeom>
            <a:solidFill>
              <a:srgbClr val="FFFFFF"/>
            </a:solidFill>
            <a:ln w="16764" cap="flat">
              <a:solidFill>
                <a:srgbClr val="08245C"/>
              </a:solidFill>
              <a:prstDash val="solid"/>
              <a:miter/>
            </a:ln>
          </p:spPr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C09B7EDD-E74F-88A4-45B7-317936D6BB85}"/>
                </a:ext>
              </a:extLst>
            </p:cNvPr>
            <p:cNvSpPr txBox="1"/>
            <p:nvPr/>
          </p:nvSpPr>
          <p:spPr>
            <a:xfrm>
              <a:off x="6881962" y="3649760"/>
              <a:ext cx="10688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400" b="1" spc="0" baseline="0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得到</a:t>
              </a:r>
              <a:r>
                <a:rPr lang="zh-CN" altLang="en-US" sz="1400" b="1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两批</a:t>
              </a:r>
              <a:r>
                <a:rPr lang="zh-CN" altLang="en-US" sz="1400" b="1" spc="0" baseline="0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财富轨迹</a:t>
              </a:r>
            </a:p>
          </p:txBody>
        </p:sp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69E79EB8-1210-619D-04D9-D19F689A99F6}"/>
                </a:ext>
              </a:extLst>
            </p:cNvPr>
            <p:cNvSpPr/>
            <p:nvPr/>
          </p:nvSpPr>
          <p:spPr>
            <a:xfrm>
              <a:off x="8091511" y="3591622"/>
              <a:ext cx="944880" cy="632460"/>
            </a:xfrm>
            <a:prstGeom prst="roundRect">
              <a:avLst>
                <a:gd name="adj" fmla="val 10843"/>
              </a:avLst>
            </a:prstGeom>
            <a:solidFill>
              <a:srgbClr val="FFFFFF"/>
            </a:solidFill>
            <a:ln w="16764" cap="flat">
              <a:solidFill>
                <a:srgbClr val="08245C"/>
              </a:solidFill>
              <a:prstDash val="solid"/>
              <a:miter/>
            </a:ln>
          </p:spPr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DA552A7D-A1F3-EAD5-6D56-7B3EC857A7D3}"/>
                </a:ext>
              </a:extLst>
            </p:cNvPr>
            <p:cNvSpPr txBox="1"/>
            <p:nvPr/>
          </p:nvSpPr>
          <p:spPr>
            <a:xfrm>
              <a:off x="8026522" y="3537676"/>
              <a:ext cx="109277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一批估计</a:t>
              </a:r>
              <a:r>
                <a:rPr lang="en-US" altLang="zh-CN" sz="1000" b="1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CPT</a:t>
              </a:r>
              <a:r>
                <a:rPr lang="zh-CN" altLang="en-US" sz="1000" b="1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分位数</a:t>
              </a:r>
              <a:endParaRPr lang="en-US" altLang="zh-CN" sz="1000" b="1" dirty="0">
                <a:ln/>
                <a:solidFill>
                  <a:srgbClr val="111827"/>
                </a:solidFill>
                <a:latin typeface="微软雅黑"/>
                <a:ea typeface="微软雅黑"/>
                <a:sym typeface="微软雅黑"/>
                <a:rtl val="0"/>
              </a:endParaRPr>
            </a:p>
            <a:p>
              <a:pPr algn="ctr"/>
              <a:r>
                <a:rPr lang="zh-CN" altLang="en-US" sz="1000" b="1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另一批估计策略得分函数</a:t>
              </a:r>
              <a:endParaRPr lang="zh-CN" altLang="en-US" sz="1000" b="1" spc="0" baseline="0" dirty="0">
                <a:ln/>
                <a:solidFill>
                  <a:srgbClr val="111827"/>
                </a:solidFill>
                <a:latin typeface="微软雅黑"/>
                <a:ea typeface="微软雅黑"/>
                <a:sym typeface="微软雅黑"/>
                <a:rtl val="0"/>
              </a:endParaRPr>
            </a:p>
          </p:txBody>
        </p:sp>
        <p:sp>
          <p:nvSpPr>
            <p:cNvPr id="64" name="矩形: 圆角 63">
              <a:extLst>
                <a:ext uri="{FF2B5EF4-FFF2-40B4-BE49-F238E27FC236}">
                  <a16:creationId xmlns:a16="http://schemas.microsoft.com/office/drawing/2014/main" id="{7A815EBE-D7AE-037F-ACB9-F2DA1B064487}"/>
                </a:ext>
              </a:extLst>
            </p:cNvPr>
            <p:cNvSpPr/>
            <p:nvPr/>
          </p:nvSpPr>
          <p:spPr>
            <a:xfrm>
              <a:off x="9249751" y="3591622"/>
              <a:ext cx="960120" cy="632460"/>
            </a:xfrm>
            <a:prstGeom prst="roundRect">
              <a:avLst>
                <a:gd name="adj" fmla="val 10843"/>
              </a:avLst>
            </a:prstGeom>
            <a:solidFill>
              <a:srgbClr val="FFFFFF"/>
            </a:solidFill>
            <a:ln w="16764" cap="flat">
              <a:solidFill>
                <a:srgbClr val="08245C"/>
              </a:solidFill>
              <a:prstDash val="solid"/>
              <a:miter/>
            </a:ln>
          </p:spPr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96D49917-8232-C3A6-BA82-C2D8FFAC4F78}"/>
                </a:ext>
              </a:extLst>
            </p:cNvPr>
            <p:cNvSpPr txBox="1"/>
            <p:nvPr/>
          </p:nvSpPr>
          <p:spPr>
            <a:xfrm>
              <a:off x="9188963" y="3629844"/>
              <a:ext cx="109196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b="1" spc="0" baseline="0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估计CPT</a:t>
              </a:r>
              <a:endParaRPr lang="en-US" altLang="zh-CN" sz="1400" b="1" spc="0" baseline="0" dirty="0">
                <a:ln/>
                <a:solidFill>
                  <a:srgbClr val="111827"/>
                </a:solidFill>
                <a:latin typeface="微软雅黑"/>
                <a:ea typeface="微软雅黑"/>
                <a:sym typeface="微软雅黑"/>
                <a:rtl val="0"/>
              </a:endParaRPr>
            </a:p>
            <a:p>
              <a:pPr algn="ctr"/>
              <a:r>
                <a:rPr lang="zh-CN" altLang="en-US" sz="1400" b="1" spc="0" baseline="0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策略梯度</a:t>
              </a:r>
              <a:r>
                <a:rPr lang="zh-CN" altLang="en-US" sz="1400" b="1" dirty="0">
                  <a:ln/>
                  <a:solidFill>
                    <a:srgbClr val="111827"/>
                  </a:solidFill>
                  <a:latin typeface="Cambria Math"/>
                  <a:ea typeface="微软雅黑"/>
                  <a:sym typeface="Cambria Math"/>
                  <a:rtl val="0"/>
                </a:rPr>
                <a:t>∇</a:t>
              </a:r>
              <a:r>
                <a:rPr lang="zh-CN" altLang="en-US" sz="1400" b="1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J</a:t>
              </a:r>
              <a:endParaRPr lang="zh-CN" altLang="en-US" sz="1400" b="1" spc="0" baseline="0" dirty="0">
                <a:ln/>
                <a:solidFill>
                  <a:srgbClr val="111827"/>
                </a:solidFill>
                <a:latin typeface="微软雅黑"/>
                <a:ea typeface="微软雅黑"/>
                <a:sym typeface="微软雅黑"/>
                <a:rtl val="0"/>
              </a:endParaRPr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7CEA28AF-DC53-452C-9B92-E991FDCC91F6}"/>
                </a:ext>
              </a:extLst>
            </p:cNvPr>
            <p:cNvSpPr txBox="1"/>
            <p:nvPr/>
          </p:nvSpPr>
          <p:spPr>
            <a:xfrm>
              <a:off x="5355744" y="4222846"/>
              <a:ext cx="25170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b="1" spc="0" baseline="0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一条轨迹 = h天投资组合变化</a:t>
              </a:r>
            </a:p>
          </p:txBody>
        </p:sp>
        <p:sp>
          <p:nvSpPr>
            <p:cNvPr id="68" name="任意多边形: 形状 67">
              <a:extLst>
                <a:ext uri="{FF2B5EF4-FFF2-40B4-BE49-F238E27FC236}">
                  <a16:creationId xmlns:a16="http://schemas.microsoft.com/office/drawing/2014/main" id="{B73F283A-860B-2D11-6986-E535E4A99A7E}"/>
                </a:ext>
              </a:extLst>
            </p:cNvPr>
            <p:cNvSpPr/>
            <p:nvPr/>
          </p:nvSpPr>
          <p:spPr>
            <a:xfrm>
              <a:off x="6636091" y="3904042"/>
              <a:ext cx="213360" cy="7620"/>
            </a:xfrm>
            <a:custGeom>
              <a:avLst/>
              <a:gdLst>
                <a:gd name="csX0" fmla="*/ 0 w 213360"/>
                <a:gd name="csY0" fmla="*/ 0 h 7620"/>
                <a:gd name="csX1" fmla="*/ 213360 w 213360"/>
                <a:gd name="csY1" fmla="*/ 0 h 76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13360" h="7620">
                  <a:moveTo>
                    <a:pt x="0" y="0"/>
                  </a:moveTo>
                  <a:lnTo>
                    <a:pt x="213360" y="0"/>
                  </a:lnTo>
                </a:path>
              </a:pathLst>
            </a:custGeom>
            <a:noFill/>
            <a:ln w="24384" cap="rnd">
              <a:solidFill>
                <a:srgbClr val="08245C"/>
              </a:solidFill>
              <a:prstDash val="solid"/>
              <a:round/>
            </a:ln>
          </p:spPr>
        </p:sp>
        <p:sp>
          <p:nvSpPr>
            <p:cNvPr id="69" name="任意多边形: 形状 68">
              <a:extLst>
                <a:ext uri="{FF2B5EF4-FFF2-40B4-BE49-F238E27FC236}">
                  <a16:creationId xmlns:a16="http://schemas.microsoft.com/office/drawing/2014/main" id="{4885FC60-DA1C-047D-1ED0-0DE7F9043357}"/>
                </a:ext>
              </a:extLst>
            </p:cNvPr>
            <p:cNvSpPr/>
            <p:nvPr/>
          </p:nvSpPr>
          <p:spPr>
            <a:xfrm>
              <a:off x="7893391" y="3904042"/>
              <a:ext cx="198120" cy="7620"/>
            </a:xfrm>
            <a:custGeom>
              <a:avLst/>
              <a:gdLst>
                <a:gd name="csX0" fmla="*/ 0 w 198120"/>
                <a:gd name="csY0" fmla="*/ 0 h 7620"/>
                <a:gd name="csX1" fmla="*/ 198120 w 198120"/>
                <a:gd name="csY1" fmla="*/ 0 h 76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8120" h="7620">
                  <a:moveTo>
                    <a:pt x="0" y="0"/>
                  </a:moveTo>
                  <a:lnTo>
                    <a:pt x="198120" y="0"/>
                  </a:lnTo>
                </a:path>
              </a:pathLst>
            </a:custGeom>
            <a:noFill/>
            <a:ln w="24384" cap="rnd">
              <a:solidFill>
                <a:srgbClr val="08245C"/>
              </a:solidFill>
              <a:prstDash val="solid"/>
              <a:round/>
            </a:ln>
          </p:spPr>
        </p:sp>
        <p:sp>
          <p:nvSpPr>
            <p:cNvPr id="70" name="任意多边形: 形状 69">
              <a:extLst>
                <a:ext uri="{FF2B5EF4-FFF2-40B4-BE49-F238E27FC236}">
                  <a16:creationId xmlns:a16="http://schemas.microsoft.com/office/drawing/2014/main" id="{EA44131B-2857-CD3A-DAE9-DD206C10C9D4}"/>
                </a:ext>
              </a:extLst>
            </p:cNvPr>
            <p:cNvSpPr/>
            <p:nvPr/>
          </p:nvSpPr>
          <p:spPr>
            <a:xfrm>
              <a:off x="9036391" y="3904042"/>
              <a:ext cx="213360" cy="7620"/>
            </a:xfrm>
            <a:custGeom>
              <a:avLst/>
              <a:gdLst>
                <a:gd name="csX0" fmla="*/ 0 w 213360"/>
                <a:gd name="csY0" fmla="*/ 0 h 7620"/>
                <a:gd name="csX1" fmla="*/ 213360 w 213360"/>
                <a:gd name="csY1" fmla="*/ 0 h 76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13360" h="7620">
                  <a:moveTo>
                    <a:pt x="0" y="0"/>
                  </a:moveTo>
                  <a:lnTo>
                    <a:pt x="213360" y="0"/>
                  </a:lnTo>
                </a:path>
              </a:pathLst>
            </a:custGeom>
            <a:noFill/>
            <a:ln w="24384" cap="rnd">
              <a:solidFill>
                <a:srgbClr val="08245C"/>
              </a:solidFill>
              <a:prstDash val="solid"/>
              <a:round/>
            </a:ln>
          </p:spPr>
        </p:sp>
        <p:sp>
          <p:nvSpPr>
            <p:cNvPr id="71" name="任意多边形: 形状 70">
              <a:extLst>
                <a:ext uri="{FF2B5EF4-FFF2-40B4-BE49-F238E27FC236}">
                  <a16:creationId xmlns:a16="http://schemas.microsoft.com/office/drawing/2014/main" id="{40798279-EF28-A6F1-B3F5-E88672B4B84A}"/>
                </a:ext>
              </a:extLst>
            </p:cNvPr>
            <p:cNvSpPr/>
            <p:nvPr/>
          </p:nvSpPr>
          <p:spPr>
            <a:xfrm>
              <a:off x="4715851" y="2166682"/>
              <a:ext cx="472440" cy="640080"/>
            </a:xfrm>
            <a:custGeom>
              <a:avLst/>
              <a:gdLst>
                <a:gd name="csX0" fmla="*/ 0 w 472440"/>
                <a:gd name="csY0" fmla="*/ 640080 h 640080"/>
                <a:gd name="csX1" fmla="*/ 167640 w 472440"/>
                <a:gd name="csY1" fmla="*/ 640080 h 640080"/>
                <a:gd name="csX2" fmla="*/ 274320 w 472440"/>
                <a:gd name="csY2" fmla="*/ 472440 h 640080"/>
                <a:gd name="csX3" fmla="*/ 274320 w 472440"/>
                <a:gd name="csY3" fmla="*/ 0 h 640080"/>
                <a:gd name="csX4" fmla="*/ 472440 w 472440"/>
                <a:gd name="csY4" fmla="*/ 0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72440" h="640080">
                  <a:moveTo>
                    <a:pt x="0" y="640080"/>
                  </a:moveTo>
                  <a:lnTo>
                    <a:pt x="167640" y="640080"/>
                  </a:lnTo>
                  <a:cubicBezTo>
                    <a:pt x="238760" y="640080"/>
                    <a:pt x="274320" y="584200"/>
                    <a:pt x="274320" y="472440"/>
                  </a:cubicBezTo>
                  <a:lnTo>
                    <a:pt x="274320" y="0"/>
                  </a:lnTo>
                  <a:cubicBezTo>
                    <a:pt x="274320" y="0"/>
                    <a:pt x="340360" y="0"/>
                    <a:pt x="472440" y="0"/>
                  </a:cubicBezTo>
                </a:path>
              </a:pathLst>
            </a:custGeom>
            <a:noFill/>
            <a:ln w="38100" cap="rnd">
              <a:solidFill>
                <a:srgbClr val="08245C"/>
              </a:solidFill>
              <a:prstDash val="solid"/>
              <a:round/>
            </a:ln>
          </p:spPr>
        </p:sp>
        <p:sp>
          <p:nvSpPr>
            <p:cNvPr id="72" name="任意多边形: 形状 71">
              <a:extLst>
                <a:ext uri="{FF2B5EF4-FFF2-40B4-BE49-F238E27FC236}">
                  <a16:creationId xmlns:a16="http://schemas.microsoft.com/office/drawing/2014/main" id="{01B7B950-8FC1-A082-2C01-60BA879A9196}"/>
                </a:ext>
              </a:extLst>
            </p:cNvPr>
            <p:cNvSpPr/>
            <p:nvPr/>
          </p:nvSpPr>
          <p:spPr>
            <a:xfrm>
              <a:off x="4715851" y="3393502"/>
              <a:ext cx="487680" cy="510540"/>
            </a:xfrm>
            <a:custGeom>
              <a:avLst/>
              <a:gdLst>
                <a:gd name="csX0" fmla="*/ 0 w 487680"/>
                <a:gd name="csY0" fmla="*/ 0 h 510540"/>
                <a:gd name="csX1" fmla="*/ 228600 w 487680"/>
                <a:gd name="csY1" fmla="*/ 0 h 510540"/>
                <a:gd name="csX2" fmla="*/ 350520 w 487680"/>
                <a:gd name="csY2" fmla="*/ 510540 h 510540"/>
                <a:gd name="csX3" fmla="*/ 487680 w 487680"/>
                <a:gd name="csY3" fmla="*/ 510540 h 5105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87680" h="510540">
                  <a:moveTo>
                    <a:pt x="0" y="0"/>
                  </a:moveTo>
                  <a:lnTo>
                    <a:pt x="228600" y="0"/>
                  </a:lnTo>
                  <a:cubicBezTo>
                    <a:pt x="309880" y="0"/>
                    <a:pt x="350520" y="170180"/>
                    <a:pt x="350520" y="510540"/>
                  </a:cubicBezTo>
                  <a:lnTo>
                    <a:pt x="487680" y="510540"/>
                  </a:lnTo>
                </a:path>
              </a:pathLst>
            </a:custGeom>
            <a:noFill/>
            <a:ln w="30480" cap="rnd">
              <a:solidFill>
                <a:srgbClr val="0B6665"/>
              </a:solidFill>
              <a:prstDash val="solid"/>
              <a:round/>
            </a:ln>
          </p:spPr>
        </p:sp>
        <p:sp>
          <p:nvSpPr>
            <p:cNvPr id="73" name="矩形: 圆角 72">
              <a:extLst>
                <a:ext uri="{FF2B5EF4-FFF2-40B4-BE49-F238E27FC236}">
                  <a16:creationId xmlns:a16="http://schemas.microsoft.com/office/drawing/2014/main" id="{86450359-2911-031D-4427-B2901052CDA7}"/>
                </a:ext>
              </a:extLst>
            </p:cNvPr>
            <p:cNvSpPr/>
            <p:nvPr/>
          </p:nvSpPr>
          <p:spPr>
            <a:xfrm>
              <a:off x="10796611" y="2623882"/>
              <a:ext cx="1424940" cy="13716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22860" cap="flat">
              <a:solidFill>
                <a:srgbClr val="08245C"/>
              </a:solidFill>
              <a:prstDash val="solid"/>
              <a:miter/>
            </a:ln>
          </p:spPr>
        </p:sp>
        <p:sp>
          <p:nvSpPr>
            <p:cNvPr id="74" name="矩形: 圆角 73">
              <a:extLst>
                <a:ext uri="{FF2B5EF4-FFF2-40B4-BE49-F238E27FC236}">
                  <a16:creationId xmlns:a16="http://schemas.microsoft.com/office/drawing/2014/main" id="{AA418D7A-F937-468C-2CCC-9AA03E5A5E21}"/>
                </a:ext>
              </a:extLst>
            </p:cNvPr>
            <p:cNvSpPr/>
            <p:nvPr/>
          </p:nvSpPr>
          <p:spPr>
            <a:xfrm>
              <a:off x="10796611" y="2623882"/>
              <a:ext cx="1424940" cy="373380"/>
            </a:xfrm>
            <a:prstGeom prst="roundRect">
              <a:avLst>
                <a:gd name="adj" fmla="val 24489"/>
              </a:avLst>
            </a:prstGeom>
            <a:gradFill>
              <a:gsLst>
                <a:gs pos="0">
                  <a:srgbClr val="071F55"/>
                </a:gs>
                <a:gs pos="55000">
                  <a:srgbClr val="082965"/>
                </a:gs>
                <a:gs pos="100000">
                  <a:srgbClr val="061B4C"/>
                </a:gs>
              </a:gsLst>
              <a:lin ang="0" scaled="1"/>
            </a:gradFill>
            <a:ln w="7620" cap="flat">
              <a:noFill/>
              <a:prstDash val="solid"/>
              <a:miter/>
            </a:ln>
          </p:spPr>
        </p:sp>
        <p:sp>
          <p:nvSpPr>
            <p:cNvPr id="75" name="任意多边形: 形状 74">
              <a:extLst>
                <a:ext uri="{FF2B5EF4-FFF2-40B4-BE49-F238E27FC236}">
                  <a16:creationId xmlns:a16="http://schemas.microsoft.com/office/drawing/2014/main" id="{21D2A194-1C74-DA6C-407C-5BDF8E94AF59}"/>
                </a:ext>
              </a:extLst>
            </p:cNvPr>
            <p:cNvSpPr/>
            <p:nvPr/>
          </p:nvSpPr>
          <p:spPr>
            <a:xfrm>
              <a:off x="10796611" y="2905822"/>
              <a:ext cx="1424940" cy="91440"/>
            </a:xfrm>
            <a:custGeom>
              <a:avLst/>
              <a:gdLst>
                <a:gd name="csX0" fmla="*/ 0 w 1424940"/>
                <a:gd name="csY0" fmla="*/ 0 h 91440"/>
                <a:gd name="csX1" fmla="*/ 1424940 w 1424940"/>
                <a:gd name="csY1" fmla="*/ 0 h 91440"/>
                <a:gd name="csX2" fmla="*/ 1424940 w 1424940"/>
                <a:gd name="csY2" fmla="*/ 91440 h 91440"/>
                <a:gd name="csX3" fmla="*/ 0 w 1424940"/>
                <a:gd name="csY3" fmla="*/ 91440 h 914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24940" h="91440">
                  <a:moveTo>
                    <a:pt x="0" y="0"/>
                  </a:moveTo>
                  <a:lnTo>
                    <a:pt x="1424940" y="0"/>
                  </a:lnTo>
                  <a:lnTo>
                    <a:pt x="1424940" y="91440"/>
                  </a:lnTo>
                  <a:lnTo>
                    <a:pt x="0" y="91440"/>
                  </a:lnTo>
                  <a:close/>
                </a:path>
              </a:pathLst>
            </a:custGeom>
            <a:gradFill>
              <a:gsLst>
                <a:gs pos="0">
                  <a:srgbClr val="071F55"/>
                </a:gs>
                <a:gs pos="55000">
                  <a:srgbClr val="082965"/>
                </a:gs>
                <a:gs pos="100000">
                  <a:srgbClr val="061B4C"/>
                </a:gs>
              </a:gsLst>
              <a:lin ang="0" scaled="1"/>
            </a:gradFill>
            <a:ln w="7620" cap="flat">
              <a:noFill/>
              <a:prstDash val="solid"/>
              <a:miter/>
            </a:ln>
          </p:spPr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85927248-DBF7-C724-C15F-CA1462EA2D1F}"/>
                </a:ext>
              </a:extLst>
            </p:cNvPr>
            <p:cNvSpPr txBox="1"/>
            <p:nvPr/>
          </p:nvSpPr>
          <p:spPr>
            <a:xfrm>
              <a:off x="10762315" y="2650440"/>
              <a:ext cx="15937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spc="0" baseline="0" dirty="0">
                  <a:ln/>
                  <a:solidFill>
                    <a:srgbClr val="FFFFFF"/>
                  </a:solidFill>
                  <a:latin typeface="微软雅黑"/>
                  <a:ea typeface="微软雅黑"/>
                  <a:sym typeface="微软雅黑"/>
                  <a:rtl val="0"/>
                </a:rPr>
                <a:t>更新策略参数 </a:t>
              </a:r>
              <a:r>
                <a:rPr lang="en-US" altLang="zh-CN" sz="1200" b="1" dirty="0">
                  <a:ln/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  <a:rtl val="0"/>
                </a:rPr>
                <a:t>θ</a:t>
              </a:r>
              <a:r>
                <a:rPr lang="zh-CN" altLang="en-US" sz="1200" b="1" baseline="-43994" dirty="0">
                  <a:ln/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  <a:rtl val="0"/>
                </a:rPr>
                <a:t>t</a:t>
              </a:r>
              <a:r>
                <a:rPr lang="en-US" altLang="zh-CN" sz="1200" b="1" baseline="-43994" dirty="0">
                  <a:ln/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  <a:rtl val="0"/>
                </a:rPr>
                <a:t>_k+1</a:t>
              </a:r>
              <a:r>
                <a:rPr lang="zh-CN" altLang="en-US" sz="1200" b="1" dirty="0">
                  <a:ln/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  <a:rtl val="0"/>
                </a:rPr>
                <a:t> </a:t>
              </a:r>
              <a:endParaRPr lang="zh-CN" altLang="en-US" sz="1200" b="1" spc="0" baseline="0" dirty="0">
                <a:ln/>
                <a:solidFill>
                  <a:schemeClr val="bg1"/>
                </a:solidFill>
                <a:latin typeface="微软雅黑"/>
                <a:ea typeface="微软雅黑"/>
                <a:sym typeface="微软雅黑"/>
                <a:rtl val="0"/>
              </a:endParaRPr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8EC718A0-B054-45F0-A5CB-E64EE77106F8}"/>
                </a:ext>
              </a:extLst>
            </p:cNvPr>
            <p:cNvSpPr txBox="1"/>
            <p:nvPr/>
          </p:nvSpPr>
          <p:spPr>
            <a:xfrm>
              <a:off x="10775155" y="3054359"/>
              <a:ext cx="1488176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spc="0" baseline="0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朝着</a:t>
              </a:r>
              <a:r>
                <a:rPr lang="zh-CN" altLang="en-US" sz="1400" b="1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增加</a:t>
              </a:r>
              <a:endParaRPr lang="en-US" altLang="zh-CN" sz="1400" b="1" dirty="0">
                <a:ln/>
                <a:solidFill>
                  <a:srgbClr val="111827"/>
                </a:solidFill>
                <a:latin typeface="微软雅黑"/>
                <a:ea typeface="微软雅黑"/>
                <a:sym typeface="微软雅黑"/>
                <a:rtl val="0"/>
              </a:endParaRPr>
            </a:p>
            <a:p>
              <a:pPr algn="ctr"/>
              <a:r>
                <a:rPr lang="zh-CN" altLang="en-US" sz="1400" b="1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高</a:t>
              </a:r>
              <a:r>
                <a:rPr lang="en-US" altLang="zh-CN" sz="1400" b="1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CPT</a:t>
              </a:r>
              <a:r>
                <a:rPr lang="zh-CN" altLang="en-US" sz="1400" b="1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效用轨迹出现概率的方向更新</a:t>
              </a:r>
              <a:endParaRPr lang="zh-CN" altLang="en-US" sz="1400" b="1" spc="0" baseline="0" dirty="0">
                <a:ln/>
                <a:solidFill>
                  <a:srgbClr val="111827"/>
                </a:solidFill>
                <a:latin typeface="微软雅黑"/>
                <a:ea typeface="微软雅黑"/>
                <a:sym typeface="微软雅黑"/>
                <a:rtl val="0"/>
              </a:endParaRPr>
            </a:p>
          </p:txBody>
        </p:sp>
        <p:sp>
          <p:nvSpPr>
            <p:cNvPr id="80" name="任意多边形: 形状 79">
              <a:extLst>
                <a:ext uri="{FF2B5EF4-FFF2-40B4-BE49-F238E27FC236}">
                  <a16:creationId xmlns:a16="http://schemas.microsoft.com/office/drawing/2014/main" id="{88144DD0-4166-585C-7543-BB217488A6DF}"/>
                </a:ext>
              </a:extLst>
            </p:cNvPr>
            <p:cNvSpPr/>
            <p:nvPr/>
          </p:nvSpPr>
          <p:spPr>
            <a:xfrm>
              <a:off x="10240351" y="2166682"/>
              <a:ext cx="556260" cy="1143000"/>
            </a:xfrm>
            <a:custGeom>
              <a:avLst/>
              <a:gdLst>
                <a:gd name="csX0" fmla="*/ 0 w 556260"/>
                <a:gd name="csY0" fmla="*/ 0 h 1143000"/>
                <a:gd name="csX1" fmla="*/ 281940 w 556260"/>
                <a:gd name="csY1" fmla="*/ 0 h 1143000"/>
                <a:gd name="csX2" fmla="*/ 403860 w 556260"/>
                <a:gd name="csY2" fmla="*/ 815340 h 1143000"/>
                <a:gd name="csX3" fmla="*/ 556260 w 556260"/>
                <a:gd name="csY3" fmla="*/ 1143000 h 1143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56260" h="1143000">
                  <a:moveTo>
                    <a:pt x="0" y="0"/>
                  </a:moveTo>
                  <a:lnTo>
                    <a:pt x="281940" y="0"/>
                  </a:lnTo>
                  <a:cubicBezTo>
                    <a:pt x="363220" y="0"/>
                    <a:pt x="403860" y="271780"/>
                    <a:pt x="403860" y="815340"/>
                  </a:cubicBezTo>
                  <a:cubicBezTo>
                    <a:pt x="403860" y="1033780"/>
                    <a:pt x="454660" y="1143000"/>
                    <a:pt x="556260" y="1143000"/>
                  </a:cubicBezTo>
                </a:path>
              </a:pathLst>
            </a:custGeom>
            <a:noFill/>
            <a:ln w="38100" cap="rnd">
              <a:solidFill>
                <a:srgbClr val="08245C"/>
              </a:solidFill>
              <a:prstDash val="solid"/>
              <a:round/>
            </a:ln>
          </p:spPr>
        </p:sp>
        <p:sp>
          <p:nvSpPr>
            <p:cNvPr id="81" name="任意多边形: 形状 80">
              <a:extLst>
                <a:ext uri="{FF2B5EF4-FFF2-40B4-BE49-F238E27FC236}">
                  <a16:creationId xmlns:a16="http://schemas.microsoft.com/office/drawing/2014/main" id="{504AE6FC-9C4B-6FC9-0A00-6F0EC75C6DA4}"/>
                </a:ext>
              </a:extLst>
            </p:cNvPr>
            <p:cNvSpPr/>
            <p:nvPr/>
          </p:nvSpPr>
          <p:spPr>
            <a:xfrm>
              <a:off x="10255591" y="3492562"/>
              <a:ext cx="541020" cy="411480"/>
            </a:xfrm>
            <a:custGeom>
              <a:avLst/>
              <a:gdLst>
                <a:gd name="csX0" fmla="*/ 0 w 541020"/>
                <a:gd name="csY0" fmla="*/ 411480 h 411480"/>
                <a:gd name="csX1" fmla="*/ 342900 w 541020"/>
                <a:gd name="csY1" fmla="*/ 411480 h 411480"/>
                <a:gd name="csX2" fmla="*/ 434340 w 541020"/>
                <a:gd name="csY2" fmla="*/ 152400 h 411480"/>
                <a:gd name="csX3" fmla="*/ 541020 w 541020"/>
                <a:gd name="csY3" fmla="*/ 0 h 4114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41020" h="411480">
                  <a:moveTo>
                    <a:pt x="0" y="411480"/>
                  </a:moveTo>
                  <a:lnTo>
                    <a:pt x="342900" y="411480"/>
                  </a:lnTo>
                  <a:cubicBezTo>
                    <a:pt x="403860" y="411480"/>
                    <a:pt x="434340" y="325120"/>
                    <a:pt x="434340" y="152400"/>
                  </a:cubicBezTo>
                  <a:cubicBezTo>
                    <a:pt x="434340" y="50800"/>
                    <a:pt x="469900" y="0"/>
                    <a:pt x="541020" y="0"/>
                  </a:cubicBezTo>
                </a:path>
              </a:pathLst>
            </a:custGeom>
            <a:noFill/>
            <a:ln w="30480" cap="rnd">
              <a:solidFill>
                <a:srgbClr val="0B6665"/>
              </a:solidFill>
              <a:prstDash val="solid"/>
              <a:round/>
            </a:ln>
          </p:spPr>
        </p:sp>
        <p:sp>
          <p:nvSpPr>
            <p:cNvPr id="82" name="任意多边形: 形状 81">
              <a:extLst>
                <a:ext uri="{FF2B5EF4-FFF2-40B4-BE49-F238E27FC236}">
                  <a16:creationId xmlns:a16="http://schemas.microsoft.com/office/drawing/2014/main" id="{513C321B-4A35-01AE-974E-8C3BE756DFD7}"/>
                </a:ext>
              </a:extLst>
            </p:cNvPr>
            <p:cNvSpPr/>
            <p:nvPr/>
          </p:nvSpPr>
          <p:spPr>
            <a:xfrm>
              <a:off x="1317331" y="3972622"/>
              <a:ext cx="10195560" cy="1104900"/>
            </a:xfrm>
            <a:custGeom>
              <a:avLst/>
              <a:gdLst>
                <a:gd name="csX0" fmla="*/ 10195560 w 10195560"/>
                <a:gd name="csY0" fmla="*/ 22860 h 1104900"/>
                <a:gd name="csX1" fmla="*/ 10195560 w 10195560"/>
                <a:gd name="csY1" fmla="*/ 1104900 h 1104900"/>
                <a:gd name="csX2" fmla="*/ 9768840 w 10195560"/>
                <a:gd name="csY2" fmla="*/ 1104900 h 1104900"/>
                <a:gd name="csX3" fmla="*/ 0 w 10195560"/>
                <a:gd name="csY3" fmla="*/ 1104900 h 1104900"/>
                <a:gd name="csX4" fmla="*/ 0 w 10195560"/>
                <a:gd name="csY4" fmla="*/ 0 h 11049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195560" h="1104900">
                  <a:moveTo>
                    <a:pt x="10195560" y="22860"/>
                  </a:moveTo>
                  <a:lnTo>
                    <a:pt x="10195560" y="1104900"/>
                  </a:lnTo>
                  <a:cubicBezTo>
                    <a:pt x="10195560" y="1104900"/>
                    <a:pt x="10053320" y="1104900"/>
                    <a:pt x="9768840" y="1104900"/>
                  </a:cubicBezTo>
                  <a:lnTo>
                    <a:pt x="0" y="1104900"/>
                  </a:lnTo>
                  <a:cubicBezTo>
                    <a:pt x="0" y="1104900"/>
                    <a:pt x="0" y="736600"/>
                    <a:pt x="0" y="0"/>
                  </a:cubicBezTo>
                </a:path>
              </a:pathLst>
            </a:custGeom>
            <a:noFill/>
            <a:ln w="27432" cap="rnd">
              <a:solidFill>
                <a:srgbClr val="08245C"/>
              </a:solidFill>
              <a:prstDash val="solid"/>
              <a:round/>
            </a:ln>
          </p:spPr>
        </p:sp>
        <p:sp>
          <p:nvSpPr>
            <p:cNvPr id="83" name="任意多边形: 形状 82">
              <a:extLst>
                <a:ext uri="{FF2B5EF4-FFF2-40B4-BE49-F238E27FC236}">
                  <a16:creationId xmlns:a16="http://schemas.microsoft.com/office/drawing/2014/main" id="{B070C960-FB45-EA8D-8904-A450B383ADD9}"/>
                </a:ext>
              </a:extLst>
            </p:cNvPr>
            <p:cNvSpPr/>
            <p:nvPr/>
          </p:nvSpPr>
          <p:spPr>
            <a:xfrm>
              <a:off x="1317331" y="3972622"/>
              <a:ext cx="7620" cy="7620"/>
            </a:xfrm>
            <a:custGeom>
              <a:avLst/>
              <a:gdLst>
                <a:gd name="csX0" fmla="*/ 0 w 7620"/>
                <a:gd name="csY0" fmla="*/ 0 h 7620"/>
                <a:gd name="csX1" fmla="*/ 0 w 7620"/>
                <a:gd name="csY1" fmla="*/ 0 h 76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620" h="762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4384" cap="rnd">
              <a:solidFill>
                <a:srgbClr val="08245C"/>
              </a:solidFill>
              <a:prstDash val="solid"/>
              <a:round/>
            </a:ln>
          </p:spPr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1AA8F4D7-64CB-5222-BFF9-021F21FF1DAD}"/>
                </a:ext>
              </a:extLst>
            </p:cNvPr>
            <p:cNvSpPr txBox="1"/>
            <p:nvPr/>
          </p:nvSpPr>
          <p:spPr>
            <a:xfrm>
              <a:off x="5650625" y="5074958"/>
              <a:ext cx="12618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b="1" spc="0" baseline="0" dirty="0">
                  <a:ln/>
                  <a:solidFill>
                    <a:srgbClr val="071F55"/>
                  </a:solidFill>
                  <a:latin typeface="微软雅黑"/>
                  <a:ea typeface="微软雅黑"/>
                  <a:sym typeface="微软雅黑"/>
                  <a:rtl val="0"/>
                </a:rPr>
                <a:t>进入下一</a:t>
              </a:r>
              <a:r>
                <a:rPr lang="zh-CN" altLang="en-US" sz="1400" b="1" dirty="0">
                  <a:ln/>
                  <a:solidFill>
                    <a:srgbClr val="071F55"/>
                  </a:solidFill>
                  <a:latin typeface="微软雅黑"/>
                  <a:ea typeface="微软雅黑"/>
                  <a:sym typeface="微软雅黑"/>
                  <a:rtl val="0"/>
                </a:rPr>
                <a:t>时期</a:t>
              </a:r>
              <a:endParaRPr lang="zh-CN" altLang="en-US" sz="1400" b="1" spc="0" baseline="0" dirty="0">
                <a:ln/>
                <a:solidFill>
                  <a:srgbClr val="071F55"/>
                </a:solidFill>
                <a:latin typeface="微软雅黑"/>
                <a:ea typeface="微软雅黑"/>
                <a:sym typeface="微软雅黑"/>
                <a:rtl val="0"/>
              </a:endParaRPr>
            </a:p>
          </p:txBody>
        </p:sp>
        <p:sp>
          <p:nvSpPr>
            <p:cNvPr id="85" name="任意多边形: 形状 84">
              <a:extLst>
                <a:ext uri="{FF2B5EF4-FFF2-40B4-BE49-F238E27FC236}">
                  <a16:creationId xmlns:a16="http://schemas.microsoft.com/office/drawing/2014/main" id="{34B461FD-6E2A-5AA2-F2EE-E0500C33895D}"/>
                </a:ext>
              </a:extLst>
            </p:cNvPr>
            <p:cNvSpPr/>
            <p:nvPr/>
          </p:nvSpPr>
          <p:spPr>
            <a:xfrm>
              <a:off x="982051" y="5572822"/>
              <a:ext cx="10927080" cy="7620"/>
            </a:xfrm>
            <a:custGeom>
              <a:avLst/>
              <a:gdLst>
                <a:gd name="csX0" fmla="*/ 0 w 10927080"/>
                <a:gd name="csY0" fmla="*/ 0 h 7620"/>
                <a:gd name="csX1" fmla="*/ 10927080 w 10927080"/>
                <a:gd name="csY1" fmla="*/ 0 h 76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927080" h="7620">
                  <a:moveTo>
                    <a:pt x="0" y="0"/>
                  </a:moveTo>
                  <a:lnTo>
                    <a:pt x="10927080" y="0"/>
                  </a:lnTo>
                </a:path>
              </a:pathLst>
            </a:custGeom>
            <a:ln w="15240" cap="flat">
              <a:solidFill>
                <a:srgbClr val="08245C"/>
              </a:solidFill>
              <a:custDash>
                <a:ds d="525000" sp="525000"/>
              </a:custDash>
              <a:miter/>
            </a:ln>
          </p:spPr>
        </p:sp>
        <p:sp>
          <p:nvSpPr>
            <p:cNvPr id="86" name="矩形: 圆角 85">
              <a:extLst>
                <a:ext uri="{FF2B5EF4-FFF2-40B4-BE49-F238E27FC236}">
                  <a16:creationId xmlns:a16="http://schemas.microsoft.com/office/drawing/2014/main" id="{773BF1AB-A2E7-ED80-BD97-C6B15FBC9A37}"/>
                </a:ext>
              </a:extLst>
            </p:cNvPr>
            <p:cNvSpPr/>
            <p:nvPr/>
          </p:nvSpPr>
          <p:spPr>
            <a:xfrm>
              <a:off x="982051" y="5831902"/>
              <a:ext cx="3299460" cy="6096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22860" cap="flat">
              <a:solidFill>
                <a:srgbClr val="08245C"/>
              </a:solidFill>
              <a:prstDash val="solid"/>
              <a:miter/>
            </a:ln>
          </p:spPr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A2C8B3A0-1D0C-B366-02AE-9AE1AB929EFA}"/>
                </a:ext>
              </a:extLst>
            </p:cNvPr>
            <p:cNvSpPr txBox="1"/>
            <p:nvPr/>
          </p:nvSpPr>
          <p:spPr>
            <a:xfrm>
              <a:off x="1371411" y="5974118"/>
              <a:ext cx="25715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b="1" spc="0" baseline="0" dirty="0">
                  <a:ln/>
                  <a:solidFill>
                    <a:srgbClr val="071F55"/>
                  </a:solidFill>
                  <a:latin typeface="微软雅黑"/>
                  <a:ea typeface="微软雅黑"/>
                  <a:sym typeface="微软雅黑"/>
                  <a:rtl val="0"/>
                </a:rPr>
                <a:t>目标：</a:t>
              </a:r>
              <a:r>
                <a:rPr lang="zh-CN" altLang="en-US" sz="1400" b="1" spc="0" baseline="0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 跟踪时变一阶驻点集合</a:t>
              </a:r>
            </a:p>
          </p:txBody>
        </p:sp>
        <p:sp>
          <p:nvSpPr>
            <p:cNvPr id="88" name="矩形: 圆角 87">
              <a:extLst>
                <a:ext uri="{FF2B5EF4-FFF2-40B4-BE49-F238E27FC236}">
                  <a16:creationId xmlns:a16="http://schemas.microsoft.com/office/drawing/2014/main" id="{A1A9A32F-5656-A78C-222A-AB3203079C97}"/>
                </a:ext>
              </a:extLst>
            </p:cNvPr>
            <p:cNvSpPr/>
            <p:nvPr/>
          </p:nvSpPr>
          <p:spPr>
            <a:xfrm>
              <a:off x="4593931" y="5831902"/>
              <a:ext cx="3124200" cy="6096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22860" cap="flat">
              <a:solidFill>
                <a:srgbClr val="0B6665"/>
              </a:solidFill>
              <a:prstDash val="solid"/>
              <a:miter/>
            </a:ln>
          </p:spPr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456B30E1-C3DB-D959-4FB7-D3B23EC4242F}"/>
                </a:ext>
              </a:extLst>
            </p:cNvPr>
            <p:cNvSpPr txBox="1"/>
            <p:nvPr/>
          </p:nvSpPr>
          <p:spPr>
            <a:xfrm>
              <a:off x="4877221" y="5974118"/>
              <a:ext cx="27510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b="1" spc="0" baseline="0" dirty="0">
                  <a:ln/>
                  <a:solidFill>
                    <a:srgbClr val="071F55"/>
                  </a:solidFill>
                  <a:latin typeface="微软雅黑"/>
                  <a:ea typeface="微软雅黑"/>
                  <a:sym typeface="微软雅黑"/>
                  <a:rtl val="0"/>
                </a:rPr>
                <a:t>诊断：</a:t>
              </a:r>
              <a:r>
                <a:rPr lang="zh-CN" altLang="en-US" sz="1400" b="1" spc="0" baseline="0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 </a:t>
              </a:r>
              <a:r>
                <a:rPr lang="zh-CN" altLang="en-US" sz="1400" b="1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动态局部遗憾次线性增长</a:t>
              </a:r>
              <a:endParaRPr lang="zh-CN" altLang="en-US" sz="1400" b="1" spc="0" baseline="0" dirty="0">
                <a:ln/>
                <a:solidFill>
                  <a:srgbClr val="111827"/>
                </a:solidFill>
                <a:latin typeface="微软雅黑"/>
                <a:ea typeface="微软雅黑"/>
                <a:sym typeface="微软雅黑"/>
                <a:rtl val="0"/>
              </a:endParaRPr>
            </a:p>
          </p:txBody>
        </p:sp>
        <p:sp>
          <p:nvSpPr>
            <p:cNvPr id="90" name="矩形: 圆角 89">
              <a:extLst>
                <a:ext uri="{FF2B5EF4-FFF2-40B4-BE49-F238E27FC236}">
                  <a16:creationId xmlns:a16="http://schemas.microsoft.com/office/drawing/2014/main" id="{B8A4ACC8-54FE-58C0-1D30-D51DB9628A23}"/>
                </a:ext>
              </a:extLst>
            </p:cNvPr>
            <p:cNvSpPr/>
            <p:nvPr/>
          </p:nvSpPr>
          <p:spPr>
            <a:xfrm>
              <a:off x="8007691" y="5831902"/>
              <a:ext cx="3893820" cy="6096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22860" cap="flat">
              <a:solidFill>
                <a:srgbClr val="08245C"/>
              </a:solidFill>
              <a:prstDash val="solid"/>
              <a:miter/>
            </a:ln>
          </p:spPr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40A57DA6-97C6-B3FB-8FDB-96CC044243C0}"/>
                </a:ext>
              </a:extLst>
            </p:cNvPr>
            <p:cNvSpPr txBox="1"/>
            <p:nvPr/>
          </p:nvSpPr>
          <p:spPr>
            <a:xfrm>
              <a:off x="8263701" y="5974118"/>
              <a:ext cx="29306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b="1" spc="0" baseline="0" dirty="0">
                  <a:ln/>
                  <a:solidFill>
                    <a:srgbClr val="071F55"/>
                  </a:solidFill>
                  <a:latin typeface="微软雅黑"/>
                  <a:ea typeface="微软雅黑"/>
                  <a:sym typeface="微软雅黑"/>
                  <a:rtl val="0"/>
                </a:rPr>
                <a:t>输出：</a:t>
              </a:r>
              <a:r>
                <a:rPr lang="zh-CN" altLang="en-US" sz="1400" b="1" spc="0" baseline="0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 </a:t>
              </a:r>
              <a:r>
                <a:rPr lang="zh-CN" altLang="en-US" sz="1400" b="1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每时期投资组合、策略参数</a:t>
              </a:r>
              <a:endParaRPr lang="zh-CN" altLang="en-US" sz="1400" b="1" spc="0" baseline="0" dirty="0">
                <a:ln/>
                <a:solidFill>
                  <a:srgbClr val="111827"/>
                </a:solidFill>
                <a:latin typeface="微软雅黑"/>
                <a:ea typeface="微软雅黑"/>
                <a:sym typeface="微软雅黑"/>
                <a:rtl val="0"/>
              </a:endParaRPr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C43F8DD9-EDDB-EBEA-5BCE-4DAD272E6DD2}"/>
                </a:ext>
              </a:extLst>
            </p:cNvPr>
            <p:cNvSpPr txBox="1"/>
            <p:nvPr/>
          </p:nvSpPr>
          <p:spPr>
            <a:xfrm>
              <a:off x="752705" y="3536763"/>
              <a:ext cx="1249060" cy="307777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l"/>
              <a:r>
                <a:rPr lang="zh-CN" altLang="en-US" sz="1400" b="1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策略参数</a:t>
              </a:r>
              <a:r>
                <a:rPr lang="zh-CN" altLang="en-US" sz="1400" b="1" spc="0" baseline="0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 </a:t>
              </a:r>
              <a:r>
                <a:rPr lang="en-US" altLang="zh-CN" sz="1400" b="1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θ</a:t>
              </a:r>
              <a:r>
                <a:rPr lang="zh-CN" altLang="en-US" sz="1400" b="1" spc="0" baseline="-43994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t</a:t>
              </a:r>
              <a:r>
                <a:rPr lang="en-US" altLang="zh-CN" sz="1400" b="1" baseline="-43994" dirty="0">
                  <a:ln/>
                  <a:solidFill>
                    <a:srgbClr val="111827"/>
                  </a:solidFill>
                  <a:latin typeface="微软雅黑"/>
                  <a:ea typeface="微软雅黑"/>
                  <a:sym typeface="微软雅黑"/>
                  <a:rtl val="0"/>
                </a:rPr>
                <a:t>_k</a:t>
              </a:r>
              <a:endParaRPr lang="zh-CN" altLang="en-US" sz="1400" b="1" spc="0" baseline="-43994" dirty="0">
                <a:ln/>
                <a:solidFill>
                  <a:srgbClr val="111827"/>
                </a:solidFill>
                <a:latin typeface="微软雅黑"/>
                <a:ea typeface="微软雅黑"/>
                <a:sym typeface="微软雅黑"/>
                <a:rtl val="0"/>
              </a:endParaRPr>
            </a:p>
          </p:txBody>
        </p:sp>
        <p:sp>
          <p:nvSpPr>
            <p:cNvPr id="93" name="等腰三角形 92">
              <a:extLst>
                <a:ext uri="{FF2B5EF4-FFF2-40B4-BE49-F238E27FC236}">
                  <a16:creationId xmlns:a16="http://schemas.microsoft.com/office/drawing/2014/main" id="{908B9204-A25C-FA54-D61D-CC96E6F18ACD}"/>
                </a:ext>
              </a:extLst>
            </p:cNvPr>
            <p:cNvSpPr/>
            <p:nvPr/>
          </p:nvSpPr>
          <p:spPr>
            <a:xfrm>
              <a:off x="1084354" y="3979007"/>
              <a:ext cx="481193" cy="336515"/>
            </a:xfrm>
            <a:prstGeom prst="triangl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等腰三角形 93">
              <a:extLst>
                <a:ext uri="{FF2B5EF4-FFF2-40B4-BE49-F238E27FC236}">
                  <a16:creationId xmlns:a16="http://schemas.microsoft.com/office/drawing/2014/main" id="{1CFCC78A-0501-FC4B-86EB-4353AD0CF272}"/>
                </a:ext>
              </a:extLst>
            </p:cNvPr>
            <p:cNvSpPr/>
            <p:nvPr/>
          </p:nvSpPr>
          <p:spPr>
            <a:xfrm rot="5400000">
              <a:off x="5037439" y="2113092"/>
              <a:ext cx="189133" cy="107180"/>
            </a:xfrm>
            <a:prstGeom prst="triangl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等腰三角形 94">
              <a:extLst>
                <a:ext uri="{FF2B5EF4-FFF2-40B4-BE49-F238E27FC236}">
                  <a16:creationId xmlns:a16="http://schemas.microsoft.com/office/drawing/2014/main" id="{88C1244C-61A3-9682-CCE1-BCBAB00564C6}"/>
                </a:ext>
              </a:extLst>
            </p:cNvPr>
            <p:cNvSpPr/>
            <p:nvPr/>
          </p:nvSpPr>
          <p:spPr>
            <a:xfrm rot="5400000">
              <a:off x="2281694" y="2950830"/>
              <a:ext cx="189133" cy="107180"/>
            </a:xfrm>
            <a:prstGeom prst="triangl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等腰三角形 95">
              <a:extLst>
                <a:ext uri="{FF2B5EF4-FFF2-40B4-BE49-F238E27FC236}">
                  <a16:creationId xmlns:a16="http://schemas.microsoft.com/office/drawing/2014/main" id="{CE0B0A8D-6EF2-DE26-BE7C-551A577256D7}"/>
                </a:ext>
              </a:extLst>
            </p:cNvPr>
            <p:cNvSpPr/>
            <p:nvPr/>
          </p:nvSpPr>
          <p:spPr>
            <a:xfrm rot="6501898">
              <a:off x="10683473" y="3242626"/>
              <a:ext cx="160097" cy="110085"/>
            </a:xfrm>
            <a:prstGeom prst="triangl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等腰三角形 96">
              <a:extLst>
                <a:ext uri="{FF2B5EF4-FFF2-40B4-BE49-F238E27FC236}">
                  <a16:creationId xmlns:a16="http://schemas.microsoft.com/office/drawing/2014/main" id="{40923ADF-1603-A128-D515-5833FD92E236}"/>
                </a:ext>
              </a:extLst>
            </p:cNvPr>
            <p:cNvSpPr/>
            <p:nvPr/>
          </p:nvSpPr>
          <p:spPr>
            <a:xfrm rot="5400000">
              <a:off x="5046380" y="3843964"/>
              <a:ext cx="219884" cy="96206"/>
            </a:xfrm>
            <a:prstGeom prst="triangl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等腰三角形 97">
              <a:extLst>
                <a:ext uri="{FF2B5EF4-FFF2-40B4-BE49-F238E27FC236}">
                  <a16:creationId xmlns:a16="http://schemas.microsoft.com/office/drawing/2014/main" id="{052A66BD-DF87-47EA-B4CF-893DCA3F08DC}"/>
                </a:ext>
              </a:extLst>
            </p:cNvPr>
            <p:cNvSpPr/>
            <p:nvPr/>
          </p:nvSpPr>
          <p:spPr>
            <a:xfrm rot="3132716">
              <a:off x="10632145" y="3470581"/>
              <a:ext cx="219884" cy="96206"/>
            </a:xfrm>
            <a:prstGeom prst="triangl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105BFD1-1AC7-82D4-9A95-B294488BF7A0}"/>
              </a:ext>
            </a:extLst>
          </p:cNvPr>
          <p:cNvSpPr txBox="1"/>
          <p:nvPr/>
        </p:nvSpPr>
        <p:spPr>
          <a:xfrm>
            <a:off x="4873673" y="2410364"/>
            <a:ext cx="12223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spc="0" baseline="0" dirty="0">
                <a:ln/>
                <a:solidFill>
                  <a:srgbClr val="111827"/>
                </a:solidFill>
                <a:latin typeface="微软雅黑"/>
                <a:ea typeface="微软雅黑"/>
                <a:sym typeface="微软雅黑"/>
                <a:rtl val="0"/>
              </a:rPr>
              <a:t>持续</a:t>
            </a:r>
            <a:r>
              <a:rPr lang="en-US" altLang="zh-CN" sz="1400" b="1" spc="0" baseline="0" dirty="0">
                <a:ln/>
                <a:solidFill>
                  <a:srgbClr val="111827"/>
                </a:solidFill>
                <a:latin typeface="微软雅黑"/>
                <a:ea typeface="微软雅黑"/>
                <a:sym typeface="微软雅黑"/>
                <a:rtl val="0"/>
              </a:rPr>
              <a:t>h</a:t>
            </a:r>
            <a:r>
              <a:rPr lang="zh-CN" altLang="en-US" sz="1400" b="1" spc="0" baseline="0" dirty="0">
                <a:ln/>
                <a:solidFill>
                  <a:srgbClr val="111827"/>
                </a:solidFill>
                <a:latin typeface="微软雅黑"/>
                <a:ea typeface="微软雅黑"/>
                <a:sym typeface="微软雅黑"/>
                <a:rtl val="0"/>
              </a:rPr>
              <a:t>天</a:t>
            </a:r>
          </a:p>
        </p:txBody>
      </p:sp>
    </p:spTree>
    <p:extLst>
      <p:ext uri="{BB962C8B-B14F-4D97-AF65-F5344CB8AC3E}">
        <p14:creationId xmlns:p14="http://schemas.microsoft.com/office/powerpoint/2010/main" val="1309071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201</Words>
  <Application>Microsoft Office PowerPoint</Application>
  <PresentationFormat>宽屏</PresentationFormat>
  <Paragraphs>33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微软雅黑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祉含 董</dc:creator>
  <cp:lastModifiedBy>祉含 董</cp:lastModifiedBy>
  <cp:revision>6</cp:revision>
  <dcterms:created xsi:type="dcterms:W3CDTF">2026-06-02T13:29:18Z</dcterms:created>
  <dcterms:modified xsi:type="dcterms:W3CDTF">2026-06-06T11:07:49Z</dcterms:modified>
</cp:coreProperties>
</file>